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Hoves" charset="1" panose="02000003020000060003"/>
      <p:regular r:id="rId15"/>
    </p:embeddedFont>
    <p:embeddedFont>
      <p:font typeface="TT Hoves Bold" charset="1" panose="02000003020000060003"/>
      <p:regular r:id="rId16"/>
    </p:embeddedFont>
    <p:embeddedFont>
      <p:font typeface="Public Sans"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233028" y="2086857"/>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2812580" y="6656559"/>
            <a:ext cx="5475420" cy="3630441"/>
          </a:xfrm>
          <a:custGeom>
            <a:avLst/>
            <a:gdLst/>
            <a:ahLst/>
            <a:cxnLst/>
            <a:rect r="r" b="b" t="t" l="l"/>
            <a:pathLst>
              <a:path h="3630441" w="5475420">
                <a:moveTo>
                  <a:pt x="0" y="0"/>
                </a:moveTo>
                <a:lnTo>
                  <a:pt x="5475420" y="0"/>
                </a:lnTo>
                <a:lnTo>
                  <a:pt x="5475420" y="3630441"/>
                </a:lnTo>
                <a:lnTo>
                  <a:pt x="0" y="3630441"/>
                </a:lnTo>
                <a:lnTo>
                  <a:pt x="0" y="0"/>
                </a:lnTo>
                <a:close/>
              </a:path>
            </a:pathLst>
          </a:custGeom>
          <a:blipFill>
            <a:blip r:embed="rId4"/>
            <a:stretch>
              <a:fillRect l="0" t="0" r="0" b="0"/>
            </a:stretch>
          </a:blipFill>
        </p:spPr>
      </p:sp>
      <p:sp>
        <p:nvSpPr>
          <p:cNvPr name="TextBox 7" id="7"/>
          <p:cNvSpPr txBox="true"/>
          <p:nvPr/>
        </p:nvSpPr>
        <p:spPr>
          <a:xfrm rot="0">
            <a:off x="14141979" y="344568"/>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2026</a:t>
            </a:r>
          </a:p>
        </p:txBody>
      </p:sp>
      <p:sp>
        <p:nvSpPr>
          <p:cNvPr name="TextBox 8" id="8"/>
          <p:cNvSpPr txBox="true"/>
          <p:nvPr/>
        </p:nvSpPr>
        <p:spPr>
          <a:xfrm rot="0">
            <a:off x="0" y="1689858"/>
            <a:ext cx="16663270" cy="3200970"/>
          </a:xfrm>
          <a:prstGeom prst="rect">
            <a:avLst/>
          </a:prstGeom>
        </p:spPr>
        <p:txBody>
          <a:bodyPr anchor="t" rtlCol="false" tIns="0" lIns="0" bIns="0" rIns="0">
            <a:spAutoFit/>
          </a:bodyPr>
          <a:lstStyle/>
          <a:p>
            <a:pPr algn="l">
              <a:lnSpc>
                <a:spcPts val="12218"/>
              </a:lnSpc>
            </a:pPr>
            <a:r>
              <a:rPr lang="en-US" b="true" sz="12998" spc="-636">
                <a:solidFill>
                  <a:srgbClr val="343434"/>
                </a:solidFill>
                <a:latin typeface="TT Hoves Bold"/>
                <a:ea typeface="TT Hoves Bold"/>
                <a:cs typeface="TT Hoves Bold"/>
                <a:sym typeface="TT Hoves Bold"/>
              </a:rPr>
              <a:t>Modeling the Dietary Habits of Alligator</a:t>
            </a:r>
          </a:p>
        </p:txBody>
      </p:sp>
      <p:sp>
        <p:nvSpPr>
          <p:cNvPr name="TextBox 9" id="9"/>
          <p:cNvSpPr txBox="true"/>
          <p:nvPr/>
        </p:nvSpPr>
        <p:spPr>
          <a:xfrm rot="0">
            <a:off x="1647781" y="8680274"/>
            <a:ext cx="8459795" cy="578026"/>
          </a:xfrm>
          <a:prstGeom prst="rect">
            <a:avLst/>
          </a:prstGeom>
        </p:spPr>
        <p:txBody>
          <a:bodyPr anchor="t" rtlCol="false" tIns="0" lIns="0" bIns="0" rIns="0">
            <a:spAutoFit/>
          </a:bodyPr>
          <a:lstStyle/>
          <a:p>
            <a:pPr algn="l">
              <a:lnSpc>
                <a:spcPts val="4381"/>
              </a:lnSpc>
            </a:pPr>
            <a:r>
              <a:rPr lang="en-US" sz="4381" spc="-87">
                <a:solidFill>
                  <a:srgbClr val="343434"/>
                </a:solidFill>
                <a:latin typeface="TT Hoves"/>
                <a:ea typeface="TT Hoves"/>
                <a:cs typeface="TT Hoves"/>
                <a:sym typeface="TT Hoves"/>
              </a:rPr>
              <a:t>Presented by Priyansh Tyagi</a:t>
            </a:r>
          </a:p>
        </p:txBody>
      </p:sp>
      <p:sp>
        <p:nvSpPr>
          <p:cNvPr name="TextBox 10" id="10"/>
          <p:cNvSpPr txBox="true"/>
          <p:nvPr/>
        </p:nvSpPr>
        <p:spPr>
          <a:xfrm rot="0">
            <a:off x="6583633" y="9315450"/>
            <a:ext cx="5297275" cy="358471"/>
          </a:xfrm>
          <a:prstGeom prst="rect">
            <a:avLst/>
          </a:prstGeom>
        </p:spPr>
        <p:txBody>
          <a:bodyPr anchor="t" rtlCol="false" tIns="0" lIns="0" bIns="0" rIns="0">
            <a:spAutoFit/>
          </a:bodyPr>
          <a:lstStyle/>
          <a:p>
            <a:pPr algn="l">
              <a:lnSpc>
                <a:spcPts val="2743"/>
              </a:lnSpc>
            </a:pPr>
            <a:r>
              <a:rPr lang="en-US" sz="2743" spc="-54">
                <a:solidFill>
                  <a:srgbClr val="343434"/>
                </a:solidFill>
                <a:latin typeface="TT Hoves"/>
                <a:ea typeface="TT Hoves"/>
                <a:cs typeface="TT Hoves"/>
                <a:sym typeface="TT Hoves"/>
              </a:rPr>
              <a:t>202007480</a:t>
            </a:r>
          </a:p>
        </p:txBody>
      </p:sp>
      <p:sp>
        <p:nvSpPr>
          <p:cNvPr name="TextBox 11" id="11"/>
          <p:cNvSpPr txBox="true"/>
          <p:nvPr/>
        </p:nvSpPr>
        <p:spPr>
          <a:xfrm rot="0">
            <a:off x="0" y="5167785"/>
            <a:ext cx="8493702" cy="1488773"/>
          </a:xfrm>
          <a:prstGeom prst="rect">
            <a:avLst/>
          </a:prstGeom>
        </p:spPr>
        <p:txBody>
          <a:bodyPr anchor="t" rtlCol="false" tIns="0" lIns="0" bIns="0" rIns="0">
            <a:spAutoFit/>
          </a:bodyPr>
          <a:lstStyle/>
          <a:p>
            <a:pPr algn="l">
              <a:lnSpc>
                <a:spcPts val="3877"/>
              </a:lnSpc>
            </a:pPr>
            <a:r>
              <a:rPr lang="en-US" b="true" sz="4125" spc="-202">
                <a:solidFill>
                  <a:srgbClr val="343434"/>
                </a:solidFill>
                <a:latin typeface="TT Hoves Bold"/>
                <a:ea typeface="TT Hoves Bold"/>
                <a:cs typeface="TT Hoves Bold"/>
                <a:sym typeface="TT Hoves Bold"/>
              </a:rPr>
              <a:t>Investigating the impact of habitat and biological maturity on predatory behavior in Florida lakes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6952459" y="1206555"/>
            <a:ext cx="11151576" cy="3607503"/>
          </a:xfrm>
          <a:prstGeom prst="rect">
            <a:avLst/>
          </a:prstGeom>
        </p:spPr>
        <p:txBody>
          <a:bodyPr anchor="t" rtlCol="false" tIns="0" lIns="0" bIns="0" rIns="0">
            <a:spAutoFit/>
          </a:bodyPr>
          <a:lstStyle/>
          <a:p>
            <a:pPr algn="l" marL="0" indent="0" lvl="0">
              <a:lnSpc>
                <a:spcPts val="2875"/>
              </a:lnSpc>
              <a:spcBef>
                <a:spcPct val="0"/>
              </a:spcBef>
            </a:pPr>
            <a:r>
              <a:rPr lang="en-US" sz="2129" spc="127">
                <a:solidFill>
                  <a:srgbClr val="343434"/>
                </a:solidFill>
                <a:latin typeface="TT Hoves"/>
                <a:ea typeface="TT Hoves"/>
                <a:cs typeface="TT Hoves"/>
                <a:sym typeface="TT Hoves"/>
              </a:rPr>
              <a:t>Alligat</a:t>
            </a:r>
            <a:r>
              <a:rPr lang="en-US" sz="2129" spc="127" u="none">
                <a:solidFill>
                  <a:srgbClr val="343434"/>
                </a:solidFill>
                <a:latin typeface="TT Hoves"/>
                <a:ea typeface="TT Hoves"/>
                <a:cs typeface="TT Hoves"/>
                <a:sym typeface="TT Hoves"/>
              </a:rPr>
              <a:t>ors are opportunistic apex predators whose dietary habits fluctuate based on environmental availability and physiological growth . This study tracks the stomach contents of 219 alligators captured across four distinct Florida lakes:</a:t>
            </a:r>
          </a:p>
          <a:p>
            <a:pPr algn="l" marL="459814" indent="-229907" lvl="1">
              <a:lnSpc>
                <a:spcPts val="2875"/>
              </a:lnSpc>
              <a:buFont typeface="Arial"/>
              <a:buChar char="•"/>
            </a:pPr>
            <a:r>
              <a:rPr lang="en-US" sz="2129" spc="127" u="none">
                <a:solidFill>
                  <a:srgbClr val="343434"/>
                </a:solidFill>
                <a:latin typeface="TT Hoves"/>
                <a:ea typeface="TT Hoves"/>
                <a:cs typeface="TT Hoves"/>
                <a:sym typeface="TT Hoves"/>
              </a:rPr>
              <a:t> George, </a:t>
            </a:r>
          </a:p>
          <a:p>
            <a:pPr algn="l" marL="459814" indent="-229907" lvl="1">
              <a:lnSpc>
                <a:spcPts val="2875"/>
              </a:lnSpc>
              <a:buFont typeface="Arial"/>
              <a:buChar char="•"/>
            </a:pPr>
            <a:r>
              <a:rPr lang="en-US" sz="2129" spc="127" u="none">
                <a:solidFill>
                  <a:srgbClr val="343434"/>
                </a:solidFill>
                <a:latin typeface="TT Hoves"/>
                <a:ea typeface="TT Hoves"/>
                <a:cs typeface="TT Hoves"/>
                <a:sym typeface="TT Hoves"/>
              </a:rPr>
              <a:t>Hancock, </a:t>
            </a:r>
          </a:p>
          <a:p>
            <a:pPr algn="l" marL="459814" indent="-229907" lvl="1">
              <a:lnSpc>
                <a:spcPts val="2875"/>
              </a:lnSpc>
              <a:buFont typeface="Arial"/>
              <a:buChar char="•"/>
            </a:pPr>
            <a:r>
              <a:rPr lang="en-US" sz="2129" spc="127" u="none">
                <a:solidFill>
                  <a:srgbClr val="343434"/>
                </a:solidFill>
                <a:latin typeface="TT Hoves"/>
                <a:ea typeface="TT Hoves"/>
                <a:cs typeface="TT Hoves"/>
                <a:sym typeface="TT Hoves"/>
              </a:rPr>
              <a:t>Oklawaha, </a:t>
            </a:r>
          </a:p>
          <a:p>
            <a:pPr algn="l" marL="459814" indent="-229907" lvl="1">
              <a:lnSpc>
                <a:spcPts val="2875"/>
              </a:lnSpc>
              <a:buFont typeface="Arial"/>
              <a:buChar char="•"/>
            </a:pPr>
            <a:r>
              <a:rPr lang="en-US" sz="2129" spc="127" u="none">
                <a:solidFill>
                  <a:srgbClr val="343434"/>
                </a:solidFill>
                <a:latin typeface="TT Hoves"/>
                <a:ea typeface="TT Hoves"/>
                <a:cs typeface="TT Hoves"/>
                <a:sym typeface="TT Hoves"/>
              </a:rPr>
              <a:t>Trafford. </a:t>
            </a:r>
          </a:p>
          <a:p>
            <a:pPr algn="l" marL="459814" indent="-229907" lvl="1">
              <a:lnSpc>
                <a:spcPts val="2875"/>
              </a:lnSpc>
              <a:buFont typeface="Arial"/>
              <a:buChar char="•"/>
            </a:pPr>
            <a:r>
              <a:rPr lang="en-US" sz="2129" spc="127" u="none">
                <a:solidFill>
                  <a:srgbClr val="343434"/>
                </a:solidFill>
                <a:latin typeface="TT Hoves"/>
                <a:ea typeface="TT Hoves"/>
                <a:cs typeface="TT Hoves"/>
                <a:sym typeface="TT Hoves"/>
              </a:rPr>
              <a:t>By analyzing these samples, we can determine how geographical habitat dictates prey selection and how biological maturity enables a transition to different dietary categories .</a:t>
            </a:r>
          </a:p>
        </p:txBody>
      </p:sp>
      <p:grpSp>
        <p:nvGrpSpPr>
          <p:cNvPr name="Group 3" id="3"/>
          <p:cNvGrpSpPr/>
          <p:nvPr/>
        </p:nvGrpSpPr>
        <p:grpSpPr>
          <a:xfrm rot="0">
            <a:off x="-696258" y="-976142"/>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952459" y="410900"/>
            <a:ext cx="9760574" cy="824230"/>
          </a:xfrm>
          <a:prstGeom prst="rect">
            <a:avLst/>
          </a:prstGeom>
        </p:spPr>
        <p:txBody>
          <a:bodyPr anchor="t" rtlCol="false" tIns="0" lIns="0" bIns="0" rIns="0">
            <a:spAutoFit/>
          </a:bodyPr>
          <a:lstStyle/>
          <a:p>
            <a:pPr algn="l">
              <a:lnSpc>
                <a:spcPts val="6110"/>
              </a:lnSpc>
            </a:pPr>
            <a:r>
              <a:rPr lang="en-US" b="true" sz="6500" spc="-318">
                <a:solidFill>
                  <a:srgbClr val="343434"/>
                </a:solidFill>
                <a:latin typeface="TT Hoves Bold"/>
                <a:ea typeface="TT Hoves Bold"/>
                <a:cs typeface="TT Hoves Bold"/>
                <a:sym typeface="TT Hoves Bold"/>
              </a:rPr>
              <a:t>The Biological Context </a:t>
            </a:r>
          </a:p>
        </p:txBody>
      </p:sp>
      <p:sp>
        <p:nvSpPr>
          <p:cNvPr name="TextBox 8" id="8"/>
          <p:cNvSpPr txBox="true"/>
          <p:nvPr/>
        </p:nvSpPr>
        <p:spPr>
          <a:xfrm rot="-5400000">
            <a:off x="4153815" y="2076558"/>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2026</a:t>
            </a:r>
          </a:p>
        </p:txBody>
      </p:sp>
      <p:sp>
        <p:nvSpPr>
          <p:cNvPr name="TextBox 9" id="9"/>
          <p:cNvSpPr txBox="true"/>
          <p:nvPr/>
        </p:nvSpPr>
        <p:spPr>
          <a:xfrm rot="0">
            <a:off x="-1725735" y="6821207"/>
            <a:ext cx="5508869"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01</a:t>
            </a:r>
          </a:p>
        </p:txBody>
      </p:sp>
      <p:sp>
        <p:nvSpPr>
          <p:cNvPr name="TextBox 10" id="10"/>
          <p:cNvSpPr txBox="true"/>
          <p:nvPr/>
        </p:nvSpPr>
        <p:spPr>
          <a:xfrm rot="0">
            <a:off x="6952459" y="5125231"/>
            <a:ext cx="9760574" cy="824230"/>
          </a:xfrm>
          <a:prstGeom prst="rect">
            <a:avLst/>
          </a:prstGeom>
        </p:spPr>
        <p:txBody>
          <a:bodyPr anchor="t" rtlCol="false" tIns="0" lIns="0" bIns="0" rIns="0">
            <a:spAutoFit/>
          </a:bodyPr>
          <a:lstStyle/>
          <a:p>
            <a:pPr algn="l">
              <a:lnSpc>
                <a:spcPts val="6110"/>
              </a:lnSpc>
            </a:pPr>
            <a:r>
              <a:rPr lang="en-US" b="true" sz="6500" spc="-318">
                <a:solidFill>
                  <a:srgbClr val="343434"/>
                </a:solidFill>
                <a:latin typeface="TT Hoves Bold"/>
                <a:ea typeface="TT Hoves Bold"/>
                <a:cs typeface="TT Hoves Bold"/>
                <a:sym typeface="TT Hoves Bold"/>
              </a:rPr>
              <a:t>Research Variables</a:t>
            </a:r>
          </a:p>
        </p:txBody>
      </p:sp>
      <p:sp>
        <p:nvSpPr>
          <p:cNvPr name="TextBox 11" id="11"/>
          <p:cNvSpPr txBox="true"/>
          <p:nvPr/>
        </p:nvSpPr>
        <p:spPr>
          <a:xfrm rot="0">
            <a:off x="6952459" y="6073286"/>
            <a:ext cx="10803198" cy="2159699"/>
          </a:xfrm>
          <a:prstGeom prst="rect">
            <a:avLst/>
          </a:prstGeom>
        </p:spPr>
        <p:txBody>
          <a:bodyPr anchor="t" rtlCol="false" tIns="0" lIns="0" bIns="0" rIns="0">
            <a:spAutoFit/>
          </a:bodyPr>
          <a:lstStyle/>
          <a:p>
            <a:pPr algn="l" marL="459867" indent="-229933" lvl="1">
              <a:lnSpc>
                <a:spcPts val="2875"/>
              </a:lnSpc>
              <a:buFont typeface="Arial"/>
              <a:buChar char="•"/>
            </a:pPr>
            <a:r>
              <a:rPr lang="en-US" sz="2129" spc="127">
                <a:solidFill>
                  <a:srgbClr val="343434"/>
                </a:solidFill>
                <a:latin typeface="TT Hoves"/>
                <a:ea typeface="TT Hoves"/>
                <a:cs typeface="TT Hoves"/>
                <a:sym typeface="TT Hoves"/>
              </a:rPr>
              <a:t>The prima</a:t>
            </a:r>
            <a:r>
              <a:rPr lang="en-US" sz="2129" spc="127" u="none">
                <a:solidFill>
                  <a:srgbClr val="343434"/>
                </a:solidFill>
                <a:latin typeface="TT Hoves"/>
                <a:ea typeface="TT Hoves"/>
                <a:cs typeface="TT Hoves"/>
                <a:sym typeface="TT Hoves"/>
              </a:rPr>
              <a:t>ry response variable is Food Choice, categorized into five nominal levels: Fish (baseline), Invertebrates, Reptiles, Birds, and Other . To model these choices, we utilize two categorical predictors: Lake</a:t>
            </a:r>
            <a:r>
              <a:rPr lang="en-US" sz="2129" spc="127" u="none">
                <a:solidFill>
                  <a:srgbClr val="343434"/>
                </a:solidFill>
                <a:latin typeface="TT Hoves"/>
                <a:ea typeface="TT Hoves"/>
                <a:cs typeface="TT Hoves"/>
                <a:sym typeface="TT Hoves"/>
              </a:rPr>
              <a:t> (location) and Size (maturity) . Size is bifurcated at the 2.3-meter threshold to distinguish between "Small" juveniles and "Large" adults, allowing us to quantify the "ontogenetic shift" in predatory behavior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805628" y="-3991568"/>
            <a:ext cx="9598990" cy="9598990"/>
          </a:xfrm>
          <a:custGeom>
            <a:avLst/>
            <a:gdLst/>
            <a:ahLst/>
            <a:cxnLst/>
            <a:rect r="r" b="b" t="t" l="l"/>
            <a:pathLst>
              <a:path h="9598990" w="9598990">
                <a:moveTo>
                  <a:pt x="0" y="0"/>
                </a:moveTo>
                <a:lnTo>
                  <a:pt x="9598990" y="0"/>
                </a:lnTo>
                <a:lnTo>
                  <a:pt x="9598990" y="9598990"/>
                </a:lnTo>
                <a:lnTo>
                  <a:pt x="0" y="959899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975489" y="1170261"/>
            <a:ext cx="6998061" cy="2561528"/>
            <a:chOff x="0" y="0"/>
            <a:chExt cx="2342659" cy="857492"/>
          </a:xfrm>
        </p:grpSpPr>
        <p:sp>
          <p:nvSpPr>
            <p:cNvPr name="Freeform 4" id="4"/>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5" id="5"/>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02</a:t>
            </a:r>
          </a:p>
        </p:txBody>
      </p:sp>
      <p:grpSp>
        <p:nvGrpSpPr>
          <p:cNvPr name="Group 7" id="7"/>
          <p:cNvGrpSpPr/>
          <p:nvPr/>
        </p:nvGrpSpPr>
        <p:grpSpPr>
          <a:xfrm rot="0">
            <a:off x="9975489" y="3862348"/>
            <a:ext cx="6998061" cy="2561528"/>
            <a:chOff x="0" y="0"/>
            <a:chExt cx="2342659" cy="857492"/>
          </a:xfrm>
        </p:grpSpPr>
        <p:sp>
          <p:nvSpPr>
            <p:cNvPr name="Freeform 8" id="8"/>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9" id="9"/>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grpSp>
        <p:nvGrpSpPr>
          <p:cNvPr name="Group 10" id="10"/>
          <p:cNvGrpSpPr/>
          <p:nvPr/>
        </p:nvGrpSpPr>
        <p:grpSpPr>
          <a:xfrm rot="0">
            <a:off x="9975489" y="6557226"/>
            <a:ext cx="6998061" cy="2561528"/>
            <a:chOff x="0" y="0"/>
            <a:chExt cx="2342659" cy="857492"/>
          </a:xfrm>
        </p:grpSpPr>
        <p:sp>
          <p:nvSpPr>
            <p:cNvPr name="Freeform 11" id="11"/>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2" id="12"/>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Freeform 13" id="13"/>
          <p:cNvSpPr/>
          <p:nvPr/>
        </p:nvSpPr>
        <p:spPr>
          <a:xfrm flipH="false" flipV="false" rot="0">
            <a:off x="0" y="4343408"/>
            <a:ext cx="8986405" cy="5773765"/>
          </a:xfrm>
          <a:custGeom>
            <a:avLst/>
            <a:gdLst/>
            <a:ahLst/>
            <a:cxnLst/>
            <a:rect r="r" b="b" t="t" l="l"/>
            <a:pathLst>
              <a:path h="5773765" w="8986405">
                <a:moveTo>
                  <a:pt x="0" y="0"/>
                </a:moveTo>
                <a:lnTo>
                  <a:pt x="8986405" y="0"/>
                </a:lnTo>
                <a:lnTo>
                  <a:pt x="8986405" y="5773765"/>
                </a:lnTo>
                <a:lnTo>
                  <a:pt x="0" y="5773765"/>
                </a:lnTo>
                <a:lnTo>
                  <a:pt x="0" y="0"/>
                </a:lnTo>
                <a:close/>
              </a:path>
            </a:pathLst>
          </a:custGeom>
          <a:blipFill>
            <a:blip r:embed="rId4"/>
            <a:stretch>
              <a:fillRect l="0" t="0" r="0" b="0"/>
            </a:stretch>
          </a:blipFill>
        </p:spPr>
      </p:sp>
      <p:sp>
        <p:nvSpPr>
          <p:cNvPr name="TextBox 14" id="14"/>
          <p:cNvSpPr txBox="true"/>
          <p:nvPr/>
        </p:nvSpPr>
        <p:spPr>
          <a:xfrm rot="0">
            <a:off x="0" y="2157438"/>
            <a:ext cx="9656630" cy="1797749"/>
          </a:xfrm>
          <a:prstGeom prst="rect">
            <a:avLst/>
          </a:prstGeom>
        </p:spPr>
        <p:txBody>
          <a:bodyPr anchor="t" rtlCol="false" tIns="0" lIns="0" bIns="0" rIns="0">
            <a:spAutoFit/>
          </a:bodyPr>
          <a:lstStyle/>
          <a:p>
            <a:pPr algn="l" marL="0" indent="0" lvl="0">
              <a:lnSpc>
                <a:spcPts val="2875"/>
              </a:lnSpc>
              <a:spcBef>
                <a:spcPct val="0"/>
              </a:spcBef>
            </a:pPr>
            <a:r>
              <a:rPr lang="en-US" sz="2129" spc="127">
                <a:solidFill>
                  <a:srgbClr val="343434"/>
                </a:solidFill>
                <a:latin typeface="TT Hoves"/>
                <a:ea typeface="TT Hoves"/>
                <a:cs typeface="TT Hoves"/>
                <a:sym typeface="TT Hoves"/>
              </a:rPr>
              <a:t>Bef</a:t>
            </a:r>
            <a:r>
              <a:rPr lang="en-US" sz="2129" spc="127" u="none">
                <a:solidFill>
                  <a:srgbClr val="343434"/>
                </a:solidFill>
                <a:latin typeface="TT Hoves"/>
                <a:ea typeface="TT Hoves"/>
                <a:cs typeface="TT Hoves"/>
                <a:sym typeface="TT Hoves"/>
              </a:rPr>
              <a:t>ore fitting the multinomial model, we examine the raw distribution of food choices across the four Florida lakes. This initial visualization allows us to identify dietary patterns, justify the selection of our reference category, and acknowledge the impact of data sparsity on our statistical tests.</a:t>
            </a:r>
          </a:p>
        </p:txBody>
      </p:sp>
      <p:sp>
        <p:nvSpPr>
          <p:cNvPr name="TextBox 15" id="15"/>
          <p:cNvSpPr txBox="true"/>
          <p:nvPr/>
        </p:nvSpPr>
        <p:spPr>
          <a:xfrm rot="0">
            <a:off x="10491672" y="2024301"/>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sp>
        <p:nvSpPr>
          <p:cNvPr name="TextBox 16" id="16"/>
          <p:cNvSpPr txBox="true"/>
          <p:nvPr/>
        </p:nvSpPr>
        <p:spPr>
          <a:xfrm rot="0">
            <a:off x="10491672" y="4717783"/>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17" id="17"/>
          <p:cNvSpPr txBox="true"/>
          <p:nvPr/>
        </p:nvSpPr>
        <p:spPr>
          <a:xfrm rot="0">
            <a:off x="10491672" y="741126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03.</a:t>
            </a:r>
          </a:p>
        </p:txBody>
      </p:sp>
      <p:sp>
        <p:nvSpPr>
          <p:cNvPr name="TextBox 18" id="18"/>
          <p:cNvSpPr txBox="true"/>
          <p:nvPr/>
        </p:nvSpPr>
        <p:spPr>
          <a:xfrm rot="0">
            <a:off x="12218908" y="1740460"/>
            <a:ext cx="4347188" cy="1579245"/>
          </a:xfrm>
          <a:prstGeom prst="rect">
            <a:avLst/>
          </a:prstGeom>
        </p:spPr>
        <p:txBody>
          <a:bodyPr anchor="t" rtlCol="false" tIns="0" lIns="0" bIns="0" rIns="0">
            <a:spAutoFit/>
          </a:bodyPr>
          <a:lstStyle/>
          <a:p>
            <a:pPr algn="just" marL="0" indent="0" lvl="0">
              <a:lnSpc>
                <a:spcPts val="2160"/>
              </a:lnSpc>
              <a:spcBef>
                <a:spcPct val="0"/>
              </a:spcBef>
            </a:pPr>
            <a:r>
              <a:rPr lang="en-US" sz="1600" spc="25">
                <a:solidFill>
                  <a:srgbClr val="EFEFEF"/>
                </a:solidFill>
                <a:latin typeface="TT Hoves"/>
                <a:ea typeface="TT Hoves"/>
                <a:cs typeface="TT Hoves"/>
                <a:sym typeface="TT Hoves"/>
              </a:rPr>
              <a:t>D</a:t>
            </a:r>
            <a:r>
              <a:rPr lang="en-US" sz="1600" spc="25" u="none">
                <a:solidFill>
                  <a:srgbClr val="EFEFEF"/>
                </a:solidFill>
                <a:latin typeface="TT Hoves"/>
                <a:ea typeface="TT Hoves"/>
                <a:cs typeface="TT Hoves"/>
                <a:sym typeface="TT Hoves"/>
              </a:rPr>
              <a:t>ominance of Fish: Fish is the most frequent dietary observation in Lake George and Lake Hancock. This widespread prevalence across the sample justifies its selection as the baseline reference category for the multinomial model.</a:t>
            </a:r>
          </a:p>
        </p:txBody>
      </p:sp>
      <p:sp>
        <p:nvSpPr>
          <p:cNvPr name="TextBox 19" id="19"/>
          <p:cNvSpPr txBox="true"/>
          <p:nvPr/>
        </p:nvSpPr>
        <p:spPr>
          <a:xfrm rot="0">
            <a:off x="12218908" y="4433942"/>
            <a:ext cx="4454718" cy="1579245"/>
          </a:xfrm>
          <a:prstGeom prst="rect">
            <a:avLst/>
          </a:prstGeom>
        </p:spPr>
        <p:txBody>
          <a:bodyPr anchor="t" rtlCol="false" tIns="0" lIns="0" bIns="0" rIns="0">
            <a:spAutoFit/>
          </a:bodyPr>
          <a:lstStyle/>
          <a:p>
            <a:pPr algn="just" marL="0" indent="0" lvl="0">
              <a:lnSpc>
                <a:spcPts val="2160"/>
              </a:lnSpc>
              <a:spcBef>
                <a:spcPct val="0"/>
              </a:spcBef>
            </a:pPr>
            <a:r>
              <a:rPr lang="en-US" sz="1600" spc="25">
                <a:solidFill>
                  <a:srgbClr val="EFEFEF"/>
                </a:solidFill>
                <a:latin typeface="TT Hoves"/>
                <a:ea typeface="TT Hoves"/>
                <a:cs typeface="TT Hoves"/>
                <a:sym typeface="TT Hoves"/>
              </a:rPr>
              <a:t>Ge</a:t>
            </a:r>
            <a:r>
              <a:rPr lang="en-US" sz="1600" spc="25" u="none">
                <a:solidFill>
                  <a:srgbClr val="EFEFEF"/>
                </a:solidFill>
                <a:latin typeface="TT Hoves"/>
                <a:ea typeface="TT Hoves"/>
                <a:cs typeface="TT Hoves"/>
                <a:sym typeface="TT Hoves"/>
              </a:rPr>
              <a:t>ographical Variation: Clear dietary shifts are visible between locations. For example, Lake Hancock shows a high count of "Other" food sources, while Lake Trafford and Oklawaha have a much higher relative frequency of invertebrates compared to George.</a:t>
            </a:r>
          </a:p>
        </p:txBody>
      </p:sp>
      <p:sp>
        <p:nvSpPr>
          <p:cNvPr name="TextBox 20" id="20"/>
          <p:cNvSpPr txBox="true"/>
          <p:nvPr/>
        </p:nvSpPr>
        <p:spPr>
          <a:xfrm rot="0">
            <a:off x="12218908" y="7127424"/>
            <a:ext cx="4347188" cy="1579245"/>
          </a:xfrm>
          <a:prstGeom prst="rect">
            <a:avLst/>
          </a:prstGeom>
        </p:spPr>
        <p:txBody>
          <a:bodyPr anchor="t" rtlCol="false" tIns="0" lIns="0" bIns="0" rIns="0">
            <a:spAutoFit/>
          </a:bodyPr>
          <a:lstStyle/>
          <a:p>
            <a:pPr algn="just" marL="0" indent="0" lvl="0">
              <a:lnSpc>
                <a:spcPts val="2160"/>
              </a:lnSpc>
              <a:spcBef>
                <a:spcPct val="0"/>
              </a:spcBef>
            </a:pPr>
            <a:r>
              <a:rPr lang="en-US" sz="1600" spc="25">
                <a:solidFill>
                  <a:srgbClr val="EFEFEF"/>
                </a:solidFill>
                <a:latin typeface="TT Hoves"/>
                <a:ea typeface="TT Hoves"/>
                <a:cs typeface="TT Hoves"/>
                <a:sym typeface="TT Hoves"/>
              </a:rPr>
              <a:t>Data</a:t>
            </a:r>
            <a:r>
              <a:rPr lang="en-US" sz="1600" spc="25" u="none">
                <a:solidFill>
                  <a:srgbClr val="EFEFEF"/>
                </a:solidFill>
                <a:latin typeface="TT Hoves"/>
                <a:ea typeface="TT Hoves"/>
                <a:cs typeface="TT Hoves"/>
                <a:sym typeface="TT Hoves"/>
              </a:rPr>
              <a:t> Sparsity: We observe very few instances of "Bird" across all lakes and almost no "Reptile" observations in Lake George. This sparsity explains why formal Goodness-of-Fit tests may later yield a p-value near 0, as the model struggles with "empty cells".</a:t>
            </a:r>
          </a:p>
        </p:txBody>
      </p:sp>
      <p:sp>
        <p:nvSpPr>
          <p:cNvPr name="TextBox 21" id="21"/>
          <p:cNvSpPr txBox="true"/>
          <p:nvPr/>
        </p:nvSpPr>
        <p:spPr>
          <a:xfrm rot="0">
            <a:off x="-125452" y="158674"/>
            <a:ext cx="7224767" cy="2376171"/>
          </a:xfrm>
          <a:prstGeom prst="rect">
            <a:avLst/>
          </a:prstGeom>
        </p:spPr>
        <p:txBody>
          <a:bodyPr anchor="t" rtlCol="false" tIns="0" lIns="0" bIns="0" rIns="0">
            <a:spAutoFit/>
          </a:bodyPr>
          <a:lstStyle/>
          <a:p>
            <a:pPr algn="ctr">
              <a:lnSpc>
                <a:spcPts val="4984"/>
              </a:lnSpc>
            </a:pPr>
            <a:r>
              <a:rPr lang="en-US" b="true" sz="4747" spc="-232">
                <a:solidFill>
                  <a:srgbClr val="343434"/>
                </a:solidFill>
                <a:latin typeface="TT Hoves Bold"/>
                <a:ea typeface="TT Hoves Bold"/>
                <a:cs typeface="TT Hoves Bold"/>
                <a:sym typeface="TT Hoves Bold"/>
              </a:rPr>
              <a:t> Exploratory Data Analysis (EDA)</a:t>
            </a:r>
          </a:p>
          <a:p>
            <a:pPr algn="l">
              <a:lnSpc>
                <a:spcPts val="5483"/>
              </a:lnSpc>
            </a:pPr>
          </a:p>
          <a:p>
            <a:pPr algn="l">
              <a:lnSpc>
                <a:spcPts val="339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11672061" y="1025292"/>
            <a:ext cx="5587239" cy="2662922"/>
            <a:chOff x="0" y="0"/>
            <a:chExt cx="2065940" cy="984643"/>
          </a:xfrm>
        </p:grpSpPr>
        <p:sp>
          <p:nvSpPr>
            <p:cNvPr name="Freeform 3" id="3"/>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4" id="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3416809" y="7139097"/>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03</a:t>
            </a:r>
          </a:p>
        </p:txBody>
      </p:sp>
      <p:grpSp>
        <p:nvGrpSpPr>
          <p:cNvPr name="Group 6" id="6"/>
          <p:cNvGrpSpPr/>
          <p:nvPr/>
        </p:nvGrpSpPr>
        <p:grpSpPr>
          <a:xfrm rot="0">
            <a:off x="11672061" y="3808631"/>
            <a:ext cx="5587239" cy="2662922"/>
            <a:chOff x="0" y="0"/>
            <a:chExt cx="2065940" cy="984643"/>
          </a:xfrm>
        </p:grpSpPr>
        <p:sp>
          <p:nvSpPr>
            <p:cNvPr name="Freeform 7" id="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8" id="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3126789" y="-2986203"/>
            <a:ext cx="9584989" cy="9584989"/>
          </a:xfrm>
          <a:custGeom>
            <a:avLst/>
            <a:gdLst/>
            <a:ahLst/>
            <a:cxnLst/>
            <a:rect r="r" b="b" t="t" l="l"/>
            <a:pathLst>
              <a:path h="9584989" w="9584989">
                <a:moveTo>
                  <a:pt x="0" y="0"/>
                </a:moveTo>
                <a:lnTo>
                  <a:pt x="9584989" y="0"/>
                </a:lnTo>
                <a:lnTo>
                  <a:pt x="9584989" y="9584989"/>
                </a:lnTo>
                <a:lnTo>
                  <a:pt x="0" y="95849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028700"/>
            <a:ext cx="5587239" cy="2662922"/>
            <a:chOff x="0" y="0"/>
            <a:chExt cx="2065940" cy="984643"/>
          </a:xfrm>
        </p:grpSpPr>
        <p:sp>
          <p:nvSpPr>
            <p:cNvPr name="Freeform 11" id="11"/>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2" id="12"/>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028700" y="3812039"/>
            <a:ext cx="5587239" cy="2662922"/>
            <a:chOff x="0" y="0"/>
            <a:chExt cx="2065940" cy="984643"/>
          </a:xfrm>
        </p:grpSpPr>
        <p:sp>
          <p:nvSpPr>
            <p:cNvPr name="Freeform 14" id="14"/>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5" id="15"/>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028700" y="6598786"/>
            <a:ext cx="5587239" cy="2662922"/>
            <a:chOff x="0" y="0"/>
            <a:chExt cx="2065940" cy="984643"/>
          </a:xfrm>
        </p:grpSpPr>
        <p:sp>
          <p:nvSpPr>
            <p:cNvPr name="Freeform 17" id="1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8" id="1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9" id="19"/>
          <p:cNvSpPr txBox="true"/>
          <p:nvPr/>
        </p:nvSpPr>
        <p:spPr>
          <a:xfrm rot="0">
            <a:off x="14101836" y="1499630"/>
            <a:ext cx="2816627" cy="1373506"/>
          </a:xfrm>
          <a:prstGeom prst="rect">
            <a:avLst/>
          </a:prstGeom>
        </p:spPr>
        <p:txBody>
          <a:bodyPr anchor="t" rtlCol="false" tIns="0" lIns="0" bIns="0" rIns="0">
            <a:spAutoFit/>
          </a:bodyPr>
          <a:lstStyle/>
          <a:p>
            <a:pPr algn="l" marL="0" indent="0" lvl="0">
              <a:lnSpc>
                <a:spcPts val="2234"/>
              </a:lnSpc>
              <a:spcBef>
                <a:spcPct val="0"/>
              </a:spcBef>
            </a:pPr>
            <a:r>
              <a:rPr lang="en-US" sz="1499">
                <a:solidFill>
                  <a:srgbClr val="EFEFEF"/>
                </a:solidFill>
                <a:latin typeface="TT Hoves"/>
                <a:ea typeface="TT Hoves"/>
                <a:cs typeface="TT Hoves"/>
                <a:sym typeface="TT Hoves"/>
              </a:rPr>
              <a:t>Th</a:t>
            </a:r>
            <a:r>
              <a:rPr lang="en-US" sz="1499" strike="noStrike" u="none">
                <a:solidFill>
                  <a:srgbClr val="EFEFEF"/>
                </a:solidFill>
                <a:latin typeface="TT Hoves"/>
                <a:ea typeface="TT Hoves"/>
                <a:cs typeface="TT Hoves"/>
                <a:sym typeface="TT Hoves"/>
              </a:rPr>
              <a:t>e predictors, Lake and Size, were checked to ensure they were not perfectly correlated, allowing the model to isolate the individual effect of each.</a:t>
            </a:r>
          </a:p>
        </p:txBody>
      </p:sp>
      <p:sp>
        <p:nvSpPr>
          <p:cNvPr name="TextBox 20" id="20"/>
          <p:cNvSpPr txBox="true"/>
          <p:nvPr/>
        </p:nvSpPr>
        <p:spPr>
          <a:xfrm rot="0">
            <a:off x="14101836" y="4286377"/>
            <a:ext cx="2816627" cy="1925956"/>
          </a:xfrm>
          <a:prstGeom prst="rect">
            <a:avLst/>
          </a:prstGeom>
        </p:spPr>
        <p:txBody>
          <a:bodyPr anchor="t" rtlCol="false" tIns="0" lIns="0" bIns="0" rIns="0">
            <a:spAutoFit/>
          </a:bodyPr>
          <a:lstStyle/>
          <a:p>
            <a:pPr algn="l" marL="0" indent="0" lvl="0">
              <a:lnSpc>
                <a:spcPts val="2234"/>
              </a:lnSpc>
              <a:spcBef>
                <a:spcPct val="0"/>
              </a:spcBef>
            </a:pPr>
            <a:r>
              <a:rPr lang="en-US" sz="1499">
                <a:solidFill>
                  <a:srgbClr val="EFEFEF"/>
                </a:solidFill>
                <a:latin typeface="TT Hoves"/>
                <a:ea typeface="TT Hoves"/>
                <a:cs typeface="TT Hoves"/>
                <a:sym typeface="TT Hoves"/>
              </a:rPr>
              <a:t>Multin</a:t>
            </a:r>
            <a:r>
              <a:rPr lang="en-US" sz="1499" strike="noStrike" u="none">
                <a:solidFill>
                  <a:srgbClr val="EFEFEF"/>
                </a:solidFill>
                <a:latin typeface="TT Hoves"/>
                <a:ea typeface="TT Hoves"/>
                <a:cs typeface="TT Hoves"/>
                <a:sym typeface="TT Hoves"/>
              </a:rPr>
              <a:t>omial models require sufficient observations across categories. While we identified sparsity in Birds and Reptiles, the 219 total observations provide a sufficient foundation for maximum likelihood estimation.</a:t>
            </a:r>
          </a:p>
        </p:txBody>
      </p:sp>
      <p:sp>
        <p:nvSpPr>
          <p:cNvPr name="TextBox 21" id="21"/>
          <p:cNvSpPr txBox="true"/>
          <p:nvPr/>
        </p:nvSpPr>
        <p:spPr>
          <a:xfrm rot="0">
            <a:off x="3458475" y="1499630"/>
            <a:ext cx="2816627" cy="1373506"/>
          </a:xfrm>
          <a:prstGeom prst="rect">
            <a:avLst/>
          </a:prstGeom>
        </p:spPr>
        <p:txBody>
          <a:bodyPr anchor="t" rtlCol="false" tIns="0" lIns="0" bIns="0" rIns="0">
            <a:spAutoFit/>
          </a:bodyPr>
          <a:lstStyle/>
          <a:p>
            <a:pPr algn="l" marL="0" indent="0" lvl="0">
              <a:lnSpc>
                <a:spcPts val="2234"/>
              </a:lnSpc>
            </a:pPr>
            <a:r>
              <a:rPr lang="en-US" sz="1499">
                <a:solidFill>
                  <a:srgbClr val="EFEFEF"/>
                </a:solidFill>
                <a:latin typeface="TT Hoves"/>
                <a:ea typeface="TT Hoves"/>
                <a:cs typeface="TT Hoves"/>
                <a:sym typeface="TT Hoves"/>
              </a:rPr>
              <a:t>Th</a:t>
            </a:r>
            <a:r>
              <a:rPr lang="en-US" sz="1499" strike="noStrike" u="none">
                <a:solidFill>
                  <a:srgbClr val="EFEFEF"/>
                </a:solidFill>
                <a:latin typeface="TT Hoves"/>
                <a:ea typeface="TT Hoves"/>
                <a:cs typeface="TT Hoves"/>
                <a:sym typeface="TT Hoves"/>
              </a:rPr>
              <a:t>e dependent variable (Food Choice) is categorical and unordered, satisfying the core requirement for multinomial modeling.</a:t>
            </a:r>
          </a:p>
        </p:txBody>
      </p:sp>
      <p:sp>
        <p:nvSpPr>
          <p:cNvPr name="TextBox 22" id="22"/>
          <p:cNvSpPr txBox="true"/>
          <p:nvPr/>
        </p:nvSpPr>
        <p:spPr>
          <a:xfrm rot="0">
            <a:off x="3458475" y="4282969"/>
            <a:ext cx="2816627" cy="1097281"/>
          </a:xfrm>
          <a:prstGeom prst="rect">
            <a:avLst/>
          </a:prstGeom>
        </p:spPr>
        <p:txBody>
          <a:bodyPr anchor="t" rtlCol="false" tIns="0" lIns="0" bIns="0" rIns="0">
            <a:spAutoFit/>
          </a:bodyPr>
          <a:lstStyle/>
          <a:p>
            <a:pPr algn="l" marL="0" indent="0" lvl="0">
              <a:lnSpc>
                <a:spcPts val="2234"/>
              </a:lnSpc>
            </a:pPr>
            <a:r>
              <a:rPr lang="en-US" sz="1499">
                <a:solidFill>
                  <a:srgbClr val="EFEFEF"/>
                </a:solidFill>
                <a:latin typeface="TT Hoves"/>
                <a:ea typeface="TT Hoves"/>
                <a:cs typeface="TT Hoves"/>
                <a:sym typeface="TT Hoves"/>
              </a:rPr>
              <a:t>Th</a:t>
            </a:r>
            <a:r>
              <a:rPr lang="en-US" sz="1499" strike="noStrike" u="none">
                <a:solidFill>
                  <a:srgbClr val="EFEFEF"/>
                </a:solidFill>
                <a:latin typeface="TT Hoves"/>
                <a:ea typeface="TT Hoves"/>
                <a:cs typeface="TT Hoves"/>
                <a:sym typeface="TT Hoves"/>
              </a:rPr>
              <a:t>e dietary choice of one alligator is assumed to be independent of the choice of any other alligator in the sample.</a:t>
            </a:r>
          </a:p>
        </p:txBody>
      </p:sp>
      <p:sp>
        <p:nvSpPr>
          <p:cNvPr name="TextBox 23" id="23"/>
          <p:cNvSpPr txBox="true"/>
          <p:nvPr/>
        </p:nvSpPr>
        <p:spPr>
          <a:xfrm rot="0">
            <a:off x="3458475" y="7059926"/>
            <a:ext cx="2816627" cy="1649731"/>
          </a:xfrm>
          <a:prstGeom prst="rect">
            <a:avLst/>
          </a:prstGeom>
        </p:spPr>
        <p:txBody>
          <a:bodyPr anchor="t" rtlCol="false" tIns="0" lIns="0" bIns="0" rIns="0">
            <a:spAutoFit/>
          </a:bodyPr>
          <a:lstStyle/>
          <a:p>
            <a:pPr algn="l" marL="0" indent="0" lvl="0">
              <a:lnSpc>
                <a:spcPts val="2234"/>
              </a:lnSpc>
            </a:pPr>
            <a:r>
              <a:rPr lang="en-US" sz="1499">
                <a:solidFill>
                  <a:srgbClr val="EFEFEF"/>
                </a:solidFill>
                <a:latin typeface="TT Hoves"/>
                <a:ea typeface="TT Hoves"/>
                <a:cs typeface="TT Hoves"/>
                <a:sym typeface="TT Hoves"/>
              </a:rPr>
              <a:t>Th</a:t>
            </a:r>
            <a:r>
              <a:rPr lang="en-US" sz="1499" strike="noStrike" u="none">
                <a:solidFill>
                  <a:srgbClr val="EFEFEF"/>
                </a:solidFill>
                <a:latin typeface="TT Hoves"/>
                <a:ea typeface="TT Hoves"/>
                <a:cs typeface="TT Hoves"/>
                <a:sym typeface="TT Hoves"/>
              </a:rPr>
              <a:t>is assumption states that the relative odds of choosing between two categories (e.g., Fish vs. Bird) are unaffected by the presence of other categories like Invertebrates.</a:t>
            </a:r>
          </a:p>
        </p:txBody>
      </p:sp>
      <p:sp>
        <p:nvSpPr>
          <p:cNvPr name="TextBox 24" id="24"/>
          <p:cNvSpPr txBox="true"/>
          <p:nvPr/>
        </p:nvSpPr>
        <p:spPr>
          <a:xfrm rot="0">
            <a:off x="7092544" y="4554093"/>
            <a:ext cx="4533232" cy="1398905"/>
          </a:xfrm>
          <a:prstGeom prst="rect">
            <a:avLst/>
          </a:prstGeom>
        </p:spPr>
        <p:txBody>
          <a:bodyPr anchor="t" rtlCol="false" tIns="0" lIns="0" bIns="0" rIns="0">
            <a:spAutoFit/>
          </a:bodyPr>
          <a:lstStyle/>
          <a:p>
            <a:pPr algn="ctr" marL="0" indent="0" lvl="1">
              <a:lnSpc>
                <a:spcPts val="5334"/>
              </a:lnSpc>
              <a:spcBef>
                <a:spcPct val="0"/>
              </a:spcBef>
            </a:pPr>
            <a:r>
              <a:rPr lang="en-US" b="true" sz="5499">
                <a:solidFill>
                  <a:srgbClr val="000000"/>
                </a:solidFill>
                <a:latin typeface="TT Hoves Bold"/>
                <a:ea typeface="TT Hoves Bold"/>
                <a:cs typeface="TT Hoves Bold"/>
                <a:sym typeface="TT Hoves Bold"/>
              </a:rPr>
              <a:t>Model Assumptions</a:t>
            </a:r>
          </a:p>
        </p:txBody>
      </p:sp>
      <p:sp>
        <p:nvSpPr>
          <p:cNvPr name="TextBox 25" id="25"/>
          <p:cNvSpPr txBox="true"/>
          <p:nvPr/>
        </p:nvSpPr>
        <p:spPr>
          <a:xfrm rot="0">
            <a:off x="1509697" y="1825939"/>
            <a:ext cx="1786853"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01</a:t>
            </a:r>
          </a:p>
        </p:txBody>
      </p:sp>
      <p:sp>
        <p:nvSpPr>
          <p:cNvPr name="TextBox 26" id="26"/>
          <p:cNvSpPr txBox="true"/>
          <p:nvPr/>
        </p:nvSpPr>
        <p:spPr>
          <a:xfrm rot="0">
            <a:off x="1509697" y="4551396"/>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02</a:t>
            </a:r>
          </a:p>
        </p:txBody>
      </p:sp>
      <p:sp>
        <p:nvSpPr>
          <p:cNvPr name="TextBox 27" id="27"/>
          <p:cNvSpPr txBox="true"/>
          <p:nvPr/>
        </p:nvSpPr>
        <p:spPr>
          <a:xfrm rot="0">
            <a:off x="1509697" y="7332211"/>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03</a:t>
            </a:r>
          </a:p>
        </p:txBody>
      </p:sp>
      <p:sp>
        <p:nvSpPr>
          <p:cNvPr name="TextBox 28" id="28"/>
          <p:cNvSpPr txBox="true"/>
          <p:nvPr/>
        </p:nvSpPr>
        <p:spPr>
          <a:xfrm rot="0">
            <a:off x="12102381" y="1798260"/>
            <a:ext cx="1999455"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04</a:t>
            </a:r>
          </a:p>
        </p:txBody>
      </p:sp>
      <p:sp>
        <p:nvSpPr>
          <p:cNvPr name="TextBox 29" id="29"/>
          <p:cNvSpPr txBox="true"/>
          <p:nvPr/>
        </p:nvSpPr>
        <p:spPr>
          <a:xfrm rot="0">
            <a:off x="12102381" y="4523717"/>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05</a:t>
            </a:r>
          </a:p>
        </p:txBody>
      </p:sp>
      <p:sp>
        <p:nvSpPr>
          <p:cNvPr name="TextBox 30" id="30"/>
          <p:cNvSpPr txBox="true"/>
          <p:nvPr/>
        </p:nvSpPr>
        <p:spPr>
          <a:xfrm rot="0">
            <a:off x="1387330" y="965594"/>
            <a:ext cx="3818441" cy="457836"/>
          </a:xfrm>
          <a:prstGeom prst="rect">
            <a:avLst/>
          </a:prstGeom>
        </p:spPr>
        <p:txBody>
          <a:bodyPr anchor="t" rtlCol="false" tIns="0" lIns="0" bIns="0" rIns="0">
            <a:spAutoFit/>
          </a:bodyPr>
          <a:lstStyle/>
          <a:p>
            <a:pPr algn="ctr">
              <a:lnSpc>
                <a:spcPts val="3639"/>
              </a:lnSpc>
              <a:spcBef>
                <a:spcPct val="0"/>
              </a:spcBef>
            </a:pPr>
            <a:r>
              <a:rPr lang="en-US" sz="2599">
                <a:solidFill>
                  <a:srgbClr val="FEFEFE"/>
                </a:solidFill>
                <a:latin typeface="Public Sans"/>
                <a:ea typeface="Public Sans"/>
                <a:cs typeface="Public Sans"/>
                <a:sym typeface="Public Sans"/>
              </a:rPr>
              <a:t>N</a:t>
            </a:r>
            <a:r>
              <a:rPr lang="en-US" sz="2599">
                <a:solidFill>
                  <a:srgbClr val="FEFEFE"/>
                </a:solidFill>
                <a:latin typeface="Public Sans"/>
                <a:ea typeface="Public Sans"/>
                <a:cs typeface="Public Sans"/>
                <a:sym typeface="Public Sans"/>
              </a:rPr>
              <a:t>ominal Response</a:t>
            </a:r>
          </a:p>
        </p:txBody>
      </p:sp>
      <p:sp>
        <p:nvSpPr>
          <p:cNvPr name="TextBox 31" id="31"/>
          <p:cNvSpPr txBox="true"/>
          <p:nvPr/>
        </p:nvSpPr>
        <p:spPr>
          <a:xfrm rot="0">
            <a:off x="1549255" y="3745364"/>
            <a:ext cx="3818441" cy="457836"/>
          </a:xfrm>
          <a:prstGeom prst="rect">
            <a:avLst/>
          </a:prstGeom>
        </p:spPr>
        <p:txBody>
          <a:bodyPr anchor="t" rtlCol="false" tIns="0" lIns="0" bIns="0" rIns="0">
            <a:spAutoFit/>
          </a:bodyPr>
          <a:lstStyle/>
          <a:p>
            <a:pPr algn="ctr">
              <a:lnSpc>
                <a:spcPts val="3639"/>
              </a:lnSpc>
              <a:spcBef>
                <a:spcPct val="0"/>
              </a:spcBef>
            </a:pPr>
            <a:r>
              <a:rPr lang="en-US" sz="2599">
                <a:solidFill>
                  <a:srgbClr val="FEFEFE"/>
                </a:solidFill>
                <a:latin typeface="Public Sans"/>
                <a:ea typeface="Public Sans"/>
                <a:cs typeface="Public Sans"/>
                <a:sym typeface="Public Sans"/>
              </a:rPr>
              <a:t>I</a:t>
            </a:r>
            <a:r>
              <a:rPr lang="en-US" sz="2599">
                <a:solidFill>
                  <a:srgbClr val="FEFEFE"/>
                </a:solidFill>
                <a:latin typeface="Public Sans"/>
                <a:ea typeface="Public Sans"/>
                <a:cs typeface="Public Sans"/>
                <a:sym typeface="Public Sans"/>
              </a:rPr>
              <a:t>ndependence</a:t>
            </a:r>
          </a:p>
        </p:txBody>
      </p:sp>
      <p:sp>
        <p:nvSpPr>
          <p:cNvPr name="TextBox 32" id="32"/>
          <p:cNvSpPr txBox="true"/>
          <p:nvPr/>
        </p:nvSpPr>
        <p:spPr>
          <a:xfrm rot="0">
            <a:off x="773782" y="6570211"/>
            <a:ext cx="6097074" cy="398780"/>
          </a:xfrm>
          <a:prstGeom prst="rect">
            <a:avLst/>
          </a:prstGeom>
        </p:spPr>
        <p:txBody>
          <a:bodyPr anchor="t" rtlCol="false" tIns="0" lIns="0" bIns="0" rIns="0">
            <a:spAutoFit/>
          </a:bodyPr>
          <a:lstStyle/>
          <a:p>
            <a:pPr algn="ctr">
              <a:lnSpc>
                <a:spcPts val="3219"/>
              </a:lnSpc>
              <a:spcBef>
                <a:spcPct val="0"/>
              </a:spcBef>
            </a:pPr>
            <a:r>
              <a:rPr lang="en-US" sz="2299">
                <a:solidFill>
                  <a:srgbClr val="FEFEFE"/>
                </a:solidFill>
                <a:latin typeface="Public Sans"/>
                <a:ea typeface="Public Sans"/>
                <a:cs typeface="Public Sans"/>
                <a:sym typeface="Public Sans"/>
              </a:rPr>
              <a:t>I</a:t>
            </a:r>
            <a:r>
              <a:rPr lang="en-US" sz="2299">
                <a:solidFill>
                  <a:srgbClr val="FEFEFE"/>
                </a:solidFill>
                <a:latin typeface="Public Sans"/>
                <a:ea typeface="Public Sans"/>
                <a:cs typeface="Public Sans"/>
                <a:sym typeface="Public Sans"/>
              </a:rPr>
              <a:t>ndependence of Irrelevant Alternatives </a:t>
            </a:r>
          </a:p>
        </p:txBody>
      </p:sp>
      <p:sp>
        <p:nvSpPr>
          <p:cNvPr name="TextBox 33" id="33"/>
          <p:cNvSpPr txBox="true"/>
          <p:nvPr/>
        </p:nvSpPr>
        <p:spPr>
          <a:xfrm rot="0">
            <a:off x="12192616" y="1007050"/>
            <a:ext cx="3818441" cy="457836"/>
          </a:xfrm>
          <a:prstGeom prst="rect">
            <a:avLst/>
          </a:prstGeom>
        </p:spPr>
        <p:txBody>
          <a:bodyPr anchor="t" rtlCol="false" tIns="0" lIns="0" bIns="0" rIns="0">
            <a:spAutoFit/>
          </a:bodyPr>
          <a:lstStyle/>
          <a:p>
            <a:pPr algn="ctr">
              <a:lnSpc>
                <a:spcPts val="3639"/>
              </a:lnSpc>
              <a:spcBef>
                <a:spcPct val="0"/>
              </a:spcBef>
            </a:pPr>
            <a:r>
              <a:rPr lang="en-US" sz="2599">
                <a:solidFill>
                  <a:srgbClr val="FEFEFE"/>
                </a:solidFill>
                <a:latin typeface="Public Sans"/>
                <a:ea typeface="Public Sans"/>
                <a:cs typeface="Public Sans"/>
                <a:sym typeface="Public Sans"/>
              </a:rPr>
              <a:t>Multic</a:t>
            </a:r>
            <a:r>
              <a:rPr lang="en-US" sz="2599">
                <a:solidFill>
                  <a:srgbClr val="FEFEFE"/>
                </a:solidFill>
                <a:latin typeface="Public Sans"/>
                <a:ea typeface="Public Sans"/>
                <a:cs typeface="Public Sans"/>
                <a:sym typeface="Public Sans"/>
              </a:rPr>
              <a:t>ollinearity</a:t>
            </a:r>
          </a:p>
        </p:txBody>
      </p:sp>
      <p:sp>
        <p:nvSpPr>
          <p:cNvPr name="TextBox 34" id="34"/>
          <p:cNvSpPr txBox="true"/>
          <p:nvPr/>
        </p:nvSpPr>
        <p:spPr>
          <a:xfrm rot="0">
            <a:off x="12192616" y="3789657"/>
            <a:ext cx="3818441" cy="457836"/>
          </a:xfrm>
          <a:prstGeom prst="rect">
            <a:avLst/>
          </a:prstGeom>
        </p:spPr>
        <p:txBody>
          <a:bodyPr anchor="t" rtlCol="false" tIns="0" lIns="0" bIns="0" rIns="0">
            <a:spAutoFit/>
          </a:bodyPr>
          <a:lstStyle/>
          <a:p>
            <a:pPr algn="ctr">
              <a:lnSpc>
                <a:spcPts val="3639"/>
              </a:lnSpc>
              <a:spcBef>
                <a:spcPct val="0"/>
              </a:spcBef>
            </a:pPr>
            <a:r>
              <a:rPr lang="en-US" sz="2599">
                <a:solidFill>
                  <a:srgbClr val="FEFEFE"/>
                </a:solidFill>
                <a:latin typeface="Public Sans"/>
                <a:ea typeface="Public Sans"/>
                <a:cs typeface="Public Sans"/>
                <a:sym typeface="Public Sans"/>
              </a:rPr>
              <a:t>L</a:t>
            </a:r>
            <a:r>
              <a:rPr lang="en-US" sz="2599">
                <a:solidFill>
                  <a:srgbClr val="FEFEFE"/>
                </a:solidFill>
                <a:latin typeface="Public Sans"/>
                <a:ea typeface="Public Sans"/>
                <a:cs typeface="Public Sans"/>
                <a:sym typeface="Public Sans"/>
              </a:rPr>
              <a:t>arge Sample Size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0439551" y="134753"/>
            <a:ext cx="7722997" cy="1517737"/>
          </a:xfrm>
          <a:custGeom>
            <a:avLst/>
            <a:gdLst/>
            <a:ahLst/>
            <a:cxnLst/>
            <a:rect r="r" b="b" t="t" l="l"/>
            <a:pathLst>
              <a:path h="1517737" w="7722997">
                <a:moveTo>
                  <a:pt x="0" y="0"/>
                </a:moveTo>
                <a:lnTo>
                  <a:pt x="7722997" y="0"/>
                </a:lnTo>
                <a:lnTo>
                  <a:pt x="7722997" y="1517737"/>
                </a:lnTo>
                <a:lnTo>
                  <a:pt x="0" y="1517737"/>
                </a:lnTo>
                <a:lnTo>
                  <a:pt x="0" y="0"/>
                </a:lnTo>
                <a:close/>
              </a:path>
            </a:pathLst>
          </a:custGeom>
          <a:blipFill>
            <a:blip r:embed="rId4"/>
            <a:stretch>
              <a:fillRect l="0" t="0" r="0" b="0"/>
            </a:stretch>
          </a:blipFill>
        </p:spPr>
      </p:sp>
      <p:sp>
        <p:nvSpPr>
          <p:cNvPr name="Freeform 7" id="7"/>
          <p:cNvSpPr/>
          <p:nvPr/>
        </p:nvSpPr>
        <p:spPr>
          <a:xfrm flipH="false" flipV="false" rot="0">
            <a:off x="10439551" y="1850332"/>
            <a:ext cx="7722997" cy="2519442"/>
          </a:xfrm>
          <a:custGeom>
            <a:avLst/>
            <a:gdLst/>
            <a:ahLst/>
            <a:cxnLst/>
            <a:rect r="r" b="b" t="t" l="l"/>
            <a:pathLst>
              <a:path h="2519442" w="7722997">
                <a:moveTo>
                  <a:pt x="0" y="0"/>
                </a:moveTo>
                <a:lnTo>
                  <a:pt x="7722997" y="0"/>
                </a:lnTo>
                <a:lnTo>
                  <a:pt x="7722997" y="2519443"/>
                </a:lnTo>
                <a:lnTo>
                  <a:pt x="0" y="2519443"/>
                </a:lnTo>
                <a:lnTo>
                  <a:pt x="0" y="0"/>
                </a:lnTo>
                <a:close/>
              </a:path>
            </a:pathLst>
          </a:custGeom>
          <a:blipFill>
            <a:blip r:embed="rId5"/>
            <a:stretch>
              <a:fillRect l="0" t="0" r="0" b="0"/>
            </a:stretch>
          </a:blipFill>
        </p:spPr>
      </p:sp>
      <p:sp>
        <p:nvSpPr>
          <p:cNvPr name="Freeform 8" id="8"/>
          <p:cNvSpPr/>
          <p:nvPr/>
        </p:nvSpPr>
        <p:spPr>
          <a:xfrm flipH="false" flipV="false" rot="0">
            <a:off x="10439551" y="4569800"/>
            <a:ext cx="7722997" cy="1226415"/>
          </a:xfrm>
          <a:custGeom>
            <a:avLst/>
            <a:gdLst/>
            <a:ahLst/>
            <a:cxnLst/>
            <a:rect r="r" b="b" t="t" l="l"/>
            <a:pathLst>
              <a:path h="1226415" w="7722997">
                <a:moveTo>
                  <a:pt x="0" y="0"/>
                </a:moveTo>
                <a:lnTo>
                  <a:pt x="7722997" y="0"/>
                </a:lnTo>
                <a:lnTo>
                  <a:pt x="7722997" y="1226414"/>
                </a:lnTo>
                <a:lnTo>
                  <a:pt x="0" y="1226414"/>
                </a:lnTo>
                <a:lnTo>
                  <a:pt x="0" y="0"/>
                </a:lnTo>
                <a:close/>
              </a:path>
            </a:pathLst>
          </a:custGeom>
          <a:blipFill>
            <a:blip r:embed="rId6"/>
            <a:stretch>
              <a:fillRect l="0" t="-2138" r="0" b="-2138"/>
            </a:stretch>
          </a:blipFill>
        </p:spPr>
      </p:sp>
      <p:sp>
        <p:nvSpPr>
          <p:cNvPr name="TextBox 9" id="9"/>
          <p:cNvSpPr txBox="true"/>
          <p:nvPr/>
        </p:nvSpPr>
        <p:spPr>
          <a:xfrm rot="0">
            <a:off x="1723646" y="1623915"/>
            <a:ext cx="6768973" cy="3969449"/>
          </a:xfrm>
          <a:prstGeom prst="rect">
            <a:avLst/>
          </a:prstGeom>
        </p:spPr>
        <p:txBody>
          <a:bodyPr anchor="t" rtlCol="false" tIns="0" lIns="0" bIns="0" rIns="0">
            <a:spAutoFit/>
          </a:bodyPr>
          <a:lstStyle/>
          <a:p>
            <a:pPr algn="l" marL="0" indent="0" lvl="0">
              <a:lnSpc>
                <a:spcPts val="2875"/>
              </a:lnSpc>
              <a:spcBef>
                <a:spcPct val="0"/>
              </a:spcBef>
            </a:pPr>
            <a:r>
              <a:rPr lang="en-US" b="true" sz="2129" spc="127">
                <a:solidFill>
                  <a:srgbClr val="343434"/>
                </a:solidFill>
                <a:latin typeface="TT Hoves Bold"/>
                <a:ea typeface="TT Hoves Bold"/>
                <a:cs typeface="TT Hoves Bold"/>
                <a:sym typeface="TT Hoves Bold"/>
              </a:rPr>
              <a:t>Th</a:t>
            </a:r>
            <a:r>
              <a:rPr lang="en-US" b="true" sz="2129" spc="127" u="none">
                <a:solidFill>
                  <a:srgbClr val="343434"/>
                </a:solidFill>
                <a:latin typeface="TT Hoves Bold"/>
                <a:ea typeface="TT Hoves Bold"/>
                <a:cs typeface="TT Hoves Bold"/>
                <a:sym typeface="TT Hoves Bold"/>
              </a:rPr>
              <a:t>e Selection Process.</a:t>
            </a:r>
          </a:p>
          <a:p>
            <a:pPr algn="l" marL="0" indent="0" lvl="0">
              <a:lnSpc>
                <a:spcPts val="2875"/>
              </a:lnSpc>
              <a:spcBef>
                <a:spcPct val="0"/>
              </a:spcBef>
            </a:pPr>
            <a:r>
              <a:rPr lang="en-US" sz="2129" spc="127" u="none">
                <a:solidFill>
                  <a:srgbClr val="343434"/>
                </a:solidFill>
                <a:latin typeface="TT Hoves"/>
                <a:ea typeface="TT Hoves"/>
                <a:cs typeface="TT Hoves"/>
                <a:sym typeface="TT Hoves"/>
              </a:rPr>
              <a:t>To identify the most reliable model, we compared three candidates: a Null model, an Additive model (Lake + Size), and an Interaction model (Lake * Size). While the Interaction model showed the lowest raw deviance, the Additive Model achieved the lowest AIC (580.08). This indicates that the dietary shifts associated with an alligator's size remain consistent across all four lakes, allowing for a more parsimonious and stable model for our analysis.</a:t>
            </a:r>
          </a:p>
        </p:txBody>
      </p:sp>
      <p:sp>
        <p:nvSpPr>
          <p:cNvPr name="TextBox 10" id="10"/>
          <p:cNvSpPr txBox="true"/>
          <p:nvPr/>
        </p:nvSpPr>
        <p:spPr>
          <a:xfrm rot="0">
            <a:off x="1723646" y="66675"/>
            <a:ext cx="7639050" cy="1362075"/>
          </a:xfrm>
          <a:prstGeom prst="rect">
            <a:avLst/>
          </a:prstGeom>
        </p:spPr>
        <p:txBody>
          <a:bodyPr anchor="t" rtlCol="false" tIns="0" lIns="0" bIns="0" rIns="0">
            <a:spAutoFit/>
          </a:bodyPr>
          <a:lstStyle/>
          <a:p>
            <a:pPr algn="l">
              <a:lnSpc>
                <a:spcPts val="5250"/>
              </a:lnSpc>
            </a:pPr>
            <a:r>
              <a:rPr lang="en-US" b="true" sz="5000" spc="-245">
                <a:solidFill>
                  <a:srgbClr val="343434"/>
                </a:solidFill>
                <a:latin typeface="TT Hoves Bold"/>
                <a:ea typeface="TT Hoves Bold"/>
                <a:cs typeface="TT Hoves Bold"/>
                <a:sym typeface="TT Hoves Bold"/>
              </a:rPr>
              <a:t>Model Selection &amp; Significance.</a:t>
            </a:r>
          </a:p>
        </p:txBody>
      </p:sp>
      <p:sp>
        <p:nvSpPr>
          <p:cNvPr name="TextBox 11" id="11"/>
          <p:cNvSpPr txBox="true"/>
          <p:nvPr/>
        </p:nvSpPr>
        <p:spPr>
          <a:xfrm rot="-5400000">
            <a:off x="-849366" y="2035431"/>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2026</a:t>
            </a:r>
          </a:p>
        </p:txBody>
      </p:sp>
      <p:sp>
        <p:nvSpPr>
          <p:cNvPr name="TextBox 12" id="12"/>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04</a:t>
            </a:r>
          </a:p>
        </p:txBody>
      </p:sp>
      <p:sp>
        <p:nvSpPr>
          <p:cNvPr name="TextBox 13" id="13"/>
          <p:cNvSpPr txBox="true"/>
          <p:nvPr/>
        </p:nvSpPr>
        <p:spPr>
          <a:xfrm rot="0">
            <a:off x="1723646" y="6210039"/>
            <a:ext cx="6768973" cy="3245549"/>
          </a:xfrm>
          <a:prstGeom prst="rect">
            <a:avLst/>
          </a:prstGeom>
        </p:spPr>
        <p:txBody>
          <a:bodyPr anchor="t" rtlCol="false" tIns="0" lIns="0" bIns="0" rIns="0">
            <a:spAutoFit/>
          </a:bodyPr>
          <a:lstStyle/>
          <a:p>
            <a:pPr algn="l" marL="0" indent="0" lvl="0">
              <a:lnSpc>
                <a:spcPts val="2875"/>
              </a:lnSpc>
              <a:spcBef>
                <a:spcPct val="0"/>
              </a:spcBef>
            </a:pPr>
            <a:r>
              <a:rPr lang="en-US" sz="2129" spc="127">
                <a:solidFill>
                  <a:srgbClr val="343434"/>
                </a:solidFill>
                <a:latin typeface="TT Hoves"/>
                <a:ea typeface="TT Hoves"/>
                <a:cs typeface="TT Hoves"/>
                <a:sym typeface="TT Hoves"/>
              </a:rPr>
              <a:t>Type II </a:t>
            </a:r>
            <a:r>
              <a:rPr lang="en-US" sz="2129" spc="127" u="none">
                <a:solidFill>
                  <a:srgbClr val="343434"/>
                </a:solidFill>
                <a:latin typeface="TT Hoves"/>
                <a:ea typeface="TT Hoves"/>
                <a:cs typeface="TT Hoves"/>
                <a:sym typeface="TT Hoves"/>
              </a:rPr>
              <a:t>Likelihood Ratio Tests were performed to verify the contribution of each predictor. Both Lake (chi^2 = 49.13, p &lt; 0.001) and Size (chi^2 = 21.09, p &lt; 0.001) were found to be highly significant. These results confirm that geographical location and biological maturity are not just correlated with diet, but are primary drivers of food choice in the Florida alligator population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6753912" y="1584065"/>
            <a:ext cx="3433873" cy="2045970"/>
          </a:xfrm>
          <a:prstGeom prst="rect">
            <a:avLst/>
          </a:prstGeom>
        </p:spPr>
        <p:txBody>
          <a:bodyPr anchor="t" rtlCol="false" tIns="0" lIns="0" bIns="0" rIns="0">
            <a:spAutoFit/>
          </a:bodyPr>
          <a:lstStyle/>
          <a:p>
            <a:pPr algn="l">
              <a:lnSpc>
                <a:spcPts val="2340"/>
              </a:lnSpc>
            </a:pPr>
            <a:r>
              <a:rPr lang="en-US" sz="1500">
                <a:solidFill>
                  <a:srgbClr val="343434"/>
                </a:solidFill>
                <a:latin typeface="TT Hoves"/>
                <a:ea typeface="TT Hoves"/>
                <a:cs typeface="TT Hoves"/>
                <a:sym typeface="TT Hoves"/>
              </a:rPr>
              <a:t> R</a:t>
            </a:r>
            <a:r>
              <a:rPr lang="en-US" sz="1500">
                <a:solidFill>
                  <a:srgbClr val="343434"/>
                </a:solidFill>
                <a:latin typeface="TT Hoves"/>
                <a:ea typeface="TT Hoves"/>
                <a:cs typeface="TT Hoves"/>
                <a:sym typeface="TT Hoves"/>
              </a:rPr>
              <a:t>esidual Analysis: The distribution of response residuals shows a strong central peak at 0.0. This confirms that the model’s predicted probabilities align well with the actual observed choices for the majority of the 219 alligators in the study.</a:t>
            </a:r>
          </a:p>
        </p:txBody>
      </p:sp>
      <p:sp>
        <p:nvSpPr>
          <p:cNvPr name="TextBox 3" id="3"/>
          <p:cNvSpPr txBox="true"/>
          <p:nvPr/>
        </p:nvSpPr>
        <p:spPr>
          <a:xfrm rot="0">
            <a:off x="6753912" y="6061076"/>
            <a:ext cx="3790516" cy="1750695"/>
          </a:xfrm>
          <a:prstGeom prst="rect">
            <a:avLst/>
          </a:prstGeom>
        </p:spPr>
        <p:txBody>
          <a:bodyPr anchor="t" rtlCol="false" tIns="0" lIns="0" bIns="0" rIns="0">
            <a:spAutoFit/>
          </a:bodyPr>
          <a:lstStyle/>
          <a:p>
            <a:pPr algn="l">
              <a:lnSpc>
                <a:spcPts val="2340"/>
              </a:lnSpc>
            </a:pPr>
            <a:r>
              <a:rPr lang="en-US" sz="1500">
                <a:solidFill>
                  <a:srgbClr val="343434"/>
                </a:solidFill>
                <a:latin typeface="TT Hoves"/>
                <a:ea typeface="TT Hoves"/>
                <a:cs typeface="TT Hoves"/>
                <a:sym typeface="TT Hoves"/>
              </a:rPr>
              <a:t>Add</a:t>
            </a:r>
            <a:r>
              <a:rPr lang="en-US" sz="1500">
                <a:solidFill>
                  <a:srgbClr val="343434"/>
                </a:solidFill>
                <a:latin typeface="TT Hoves"/>
                <a:ea typeface="TT Hoves"/>
                <a:cs typeface="TT Hoves"/>
                <a:sym typeface="TT Hoves"/>
              </a:rPr>
              <a:t>ressing Sparsity: While the formal Deviance test suggests a "lack of fit" (p = 0), we conclude this is an artifact of sparse data, specifically the "empty cells" for Birds and Reptiles identified in our EDA, rather than a failure of the model logic.</a:t>
            </a:r>
          </a:p>
        </p:txBody>
      </p:sp>
      <p:grpSp>
        <p:nvGrpSpPr>
          <p:cNvPr name="Group 4" id="4"/>
          <p:cNvGrpSpPr/>
          <p:nvPr/>
        </p:nvGrpSpPr>
        <p:grpSpPr>
          <a:xfrm rot="0">
            <a:off x="1296574" y="799290"/>
            <a:ext cx="273982" cy="245024"/>
            <a:chOff x="0" y="0"/>
            <a:chExt cx="91718" cy="82024"/>
          </a:xfrm>
        </p:grpSpPr>
        <p:sp>
          <p:nvSpPr>
            <p:cNvPr name="Freeform 5" id="5"/>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6" id="6"/>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7" id="7"/>
          <p:cNvGrpSpPr/>
          <p:nvPr/>
        </p:nvGrpSpPr>
        <p:grpSpPr>
          <a:xfrm rot="0">
            <a:off x="1028700" y="5276301"/>
            <a:ext cx="273982" cy="245024"/>
            <a:chOff x="0" y="0"/>
            <a:chExt cx="91718" cy="82024"/>
          </a:xfrm>
        </p:grpSpPr>
        <p:sp>
          <p:nvSpPr>
            <p:cNvPr name="Freeform 8" id="8"/>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9" id="9"/>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0" id="10"/>
          <p:cNvGrpSpPr/>
          <p:nvPr/>
        </p:nvGrpSpPr>
        <p:grpSpPr>
          <a:xfrm rot="0">
            <a:off x="6337003" y="5276301"/>
            <a:ext cx="273982" cy="245024"/>
            <a:chOff x="0" y="0"/>
            <a:chExt cx="91718" cy="82024"/>
          </a:xfrm>
        </p:grpSpPr>
        <p:sp>
          <p:nvSpPr>
            <p:cNvPr name="Freeform 11" id="11"/>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2" id="12"/>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3" id="13"/>
          <p:cNvGrpSpPr/>
          <p:nvPr/>
        </p:nvGrpSpPr>
        <p:grpSpPr>
          <a:xfrm rot="0">
            <a:off x="6337003" y="799290"/>
            <a:ext cx="273982" cy="245024"/>
            <a:chOff x="0" y="0"/>
            <a:chExt cx="91718" cy="82024"/>
          </a:xfrm>
        </p:grpSpPr>
        <p:sp>
          <p:nvSpPr>
            <p:cNvPr name="Freeform 14" id="14"/>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5" id="15"/>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sp>
        <p:nvSpPr>
          <p:cNvPr name="Freeform 16" id="16"/>
          <p:cNvSpPr/>
          <p:nvPr/>
        </p:nvSpPr>
        <p:spPr>
          <a:xfrm flipH="false" flipV="false" rot="0">
            <a:off x="9555412" y="-7939543"/>
            <a:ext cx="14102688" cy="14102688"/>
          </a:xfrm>
          <a:custGeom>
            <a:avLst/>
            <a:gdLst/>
            <a:ahLst/>
            <a:cxnLst/>
            <a:rect r="r" b="b" t="t" l="l"/>
            <a:pathLst>
              <a:path h="14102688" w="14102688">
                <a:moveTo>
                  <a:pt x="0" y="0"/>
                </a:moveTo>
                <a:lnTo>
                  <a:pt x="14102688" y="0"/>
                </a:lnTo>
                <a:lnTo>
                  <a:pt x="14102688" y="14102689"/>
                </a:lnTo>
                <a:lnTo>
                  <a:pt x="0" y="141026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696258" y="9258300"/>
            <a:ext cx="19680517" cy="1115933"/>
            <a:chOff x="0" y="0"/>
            <a:chExt cx="5183346" cy="293908"/>
          </a:xfrm>
        </p:grpSpPr>
        <p:sp>
          <p:nvSpPr>
            <p:cNvPr name="Freeform 18" id="18"/>
            <p:cNvSpPr/>
            <p:nvPr/>
          </p:nvSpPr>
          <p:spPr>
            <a:xfrm flipH="false" flipV="false" rot="0">
              <a:off x="0" y="0"/>
              <a:ext cx="5183346" cy="293908"/>
            </a:xfrm>
            <a:custGeom>
              <a:avLst/>
              <a:gdLst/>
              <a:ahLst/>
              <a:cxnLst/>
              <a:rect r="r" b="b" t="t" l="l"/>
              <a:pathLst>
                <a:path h="293908" w="5183346">
                  <a:moveTo>
                    <a:pt x="0" y="0"/>
                  </a:moveTo>
                  <a:lnTo>
                    <a:pt x="5183346" y="0"/>
                  </a:lnTo>
                  <a:lnTo>
                    <a:pt x="5183346" y="293908"/>
                  </a:lnTo>
                  <a:lnTo>
                    <a:pt x="0" y="293908"/>
                  </a:lnTo>
                  <a:close/>
                </a:path>
              </a:pathLst>
            </a:custGeom>
            <a:solidFill>
              <a:srgbClr val="0003FF"/>
            </a:solidFill>
          </p:spPr>
        </p:sp>
        <p:sp>
          <p:nvSpPr>
            <p:cNvPr name="TextBox 19" id="19"/>
            <p:cNvSpPr txBox="true"/>
            <p:nvPr/>
          </p:nvSpPr>
          <p:spPr>
            <a:xfrm>
              <a:off x="0" y="-57150"/>
              <a:ext cx="5183346" cy="351058"/>
            </a:xfrm>
            <a:prstGeom prst="rect">
              <a:avLst/>
            </a:prstGeom>
          </p:spPr>
          <p:txBody>
            <a:bodyPr anchor="ctr" rtlCol="false" tIns="50800" lIns="50800" bIns="50800" rIns="50800"/>
            <a:lstStyle/>
            <a:p>
              <a:pPr algn="ctr">
                <a:lnSpc>
                  <a:spcPts val="3639"/>
                </a:lnSpc>
              </a:pPr>
            </a:p>
          </p:txBody>
        </p:sp>
      </p:grpSp>
      <p:sp>
        <p:nvSpPr>
          <p:cNvPr name="Freeform 20" id="20"/>
          <p:cNvSpPr/>
          <p:nvPr/>
        </p:nvSpPr>
        <p:spPr>
          <a:xfrm flipH="false" flipV="false" rot="0">
            <a:off x="11169582" y="4557688"/>
            <a:ext cx="7458930" cy="4700612"/>
          </a:xfrm>
          <a:custGeom>
            <a:avLst/>
            <a:gdLst/>
            <a:ahLst/>
            <a:cxnLst/>
            <a:rect r="r" b="b" t="t" l="l"/>
            <a:pathLst>
              <a:path h="4700612" w="7458930">
                <a:moveTo>
                  <a:pt x="0" y="0"/>
                </a:moveTo>
                <a:lnTo>
                  <a:pt x="7458931" y="0"/>
                </a:lnTo>
                <a:lnTo>
                  <a:pt x="7458931" y="4700612"/>
                </a:lnTo>
                <a:lnTo>
                  <a:pt x="0" y="4700612"/>
                </a:lnTo>
                <a:lnTo>
                  <a:pt x="0" y="0"/>
                </a:lnTo>
                <a:close/>
              </a:path>
            </a:pathLst>
          </a:custGeom>
          <a:blipFill>
            <a:blip r:embed="rId4"/>
            <a:stretch>
              <a:fillRect l="0" t="-2943" r="0" b="0"/>
            </a:stretch>
          </a:blipFill>
        </p:spPr>
      </p:sp>
      <p:sp>
        <p:nvSpPr>
          <p:cNvPr name="TextBox 21" id="21"/>
          <p:cNvSpPr txBox="true"/>
          <p:nvPr/>
        </p:nvSpPr>
        <p:spPr>
          <a:xfrm rot="0">
            <a:off x="1756319" y="74268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01</a:t>
            </a:r>
          </a:p>
        </p:txBody>
      </p:sp>
      <p:sp>
        <p:nvSpPr>
          <p:cNvPr name="TextBox 22" id="22"/>
          <p:cNvSpPr txBox="true"/>
          <p:nvPr/>
        </p:nvSpPr>
        <p:spPr>
          <a:xfrm rot="0">
            <a:off x="1488445" y="5219700"/>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02</a:t>
            </a:r>
          </a:p>
        </p:txBody>
      </p:sp>
      <p:sp>
        <p:nvSpPr>
          <p:cNvPr name="TextBox 23" id="23"/>
          <p:cNvSpPr txBox="true"/>
          <p:nvPr/>
        </p:nvSpPr>
        <p:spPr>
          <a:xfrm rot="0">
            <a:off x="1756319" y="1584065"/>
            <a:ext cx="4098152" cy="3081909"/>
          </a:xfrm>
          <a:prstGeom prst="rect">
            <a:avLst/>
          </a:prstGeom>
        </p:spPr>
        <p:txBody>
          <a:bodyPr anchor="t" rtlCol="false" tIns="0" lIns="0" bIns="0" rIns="0">
            <a:spAutoFit/>
          </a:bodyPr>
          <a:lstStyle/>
          <a:p>
            <a:pPr algn="l" marL="345439" indent="-172720" lvl="1">
              <a:lnSpc>
                <a:spcPts val="2495"/>
              </a:lnSpc>
              <a:buFont typeface="Arial"/>
              <a:buChar char="•"/>
            </a:pPr>
            <a:r>
              <a:rPr lang="en-US" sz="1599">
                <a:solidFill>
                  <a:srgbClr val="343434"/>
                </a:solidFill>
                <a:latin typeface="TT Hoves"/>
                <a:ea typeface="TT Hoves"/>
                <a:cs typeface="TT Hoves"/>
                <a:sym typeface="TT Hoves"/>
              </a:rPr>
              <a:t>McFadd</a:t>
            </a:r>
            <a:r>
              <a:rPr lang="en-US" sz="1599">
                <a:solidFill>
                  <a:srgbClr val="343434"/>
                </a:solidFill>
                <a:latin typeface="TT Hoves"/>
                <a:ea typeface="TT Hoves"/>
                <a:cs typeface="TT Hoves"/>
                <a:sym typeface="TT Hoves"/>
              </a:rPr>
              <a:t>en’s Pseudo-R^2: Our model achieved a value of 0.1064. In multinomial ecological modeling, where individual animal behavior is highly variable, a value above 0.10 indicates that the predictors (Lake and Size) provide a significant and meaningful improvement over the null model.</a:t>
            </a:r>
          </a:p>
          <a:p>
            <a:pPr algn="l">
              <a:lnSpc>
                <a:spcPts val="2340"/>
              </a:lnSpc>
            </a:pPr>
          </a:p>
          <a:p>
            <a:pPr algn="l">
              <a:lnSpc>
                <a:spcPts val="2340"/>
              </a:lnSpc>
            </a:pPr>
          </a:p>
        </p:txBody>
      </p:sp>
      <p:sp>
        <p:nvSpPr>
          <p:cNvPr name="TextBox 24" id="24"/>
          <p:cNvSpPr txBox="true"/>
          <p:nvPr/>
        </p:nvSpPr>
        <p:spPr>
          <a:xfrm rot="0">
            <a:off x="1488445" y="6061076"/>
            <a:ext cx="4366026" cy="1750695"/>
          </a:xfrm>
          <a:prstGeom prst="rect">
            <a:avLst/>
          </a:prstGeom>
        </p:spPr>
        <p:txBody>
          <a:bodyPr anchor="t" rtlCol="false" tIns="0" lIns="0" bIns="0" rIns="0">
            <a:spAutoFit/>
          </a:bodyPr>
          <a:lstStyle/>
          <a:p>
            <a:pPr algn="l">
              <a:lnSpc>
                <a:spcPts val="2340"/>
              </a:lnSpc>
            </a:pPr>
            <a:r>
              <a:rPr lang="en-US" sz="1500">
                <a:solidFill>
                  <a:srgbClr val="343434"/>
                </a:solidFill>
                <a:latin typeface="TT Hoves"/>
                <a:ea typeface="TT Hoves"/>
                <a:cs typeface="TT Hoves"/>
                <a:sym typeface="TT Hoves"/>
              </a:rPr>
              <a:t>Classificati</a:t>
            </a:r>
            <a:r>
              <a:rPr lang="en-US" sz="1500">
                <a:solidFill>
                  <a:srgbClr val="343434"/>
                </a:solidFill>
                <a:latin typeface="TT Hoves"/>
                <a:ea typeface="TT Hoves"/>
                <a:cs typeface="TT Hoves"/>
                <a:sym typeface="TT Hoves"/>
              </a:rPr>
              <a:t>on Accuracy: The model correctly predicts the primary food choice 48.4% of the time. This is more than double the 20% accuracy expected by random chance for a five-category response, proving our predictors are robust ecological indicators .</a:t>
            </a:r>
          </a:p>
        </p:txBody>
      </p:sp>
      <p:sp>
        <p:nvSpPr>
          <p:cNvPr name="TextBox 25" id="25"/>
          <p:cNvSpPr txBox="true"/>
          <p:nvPr/>
        </p:nvSpPr>
        <p:spPr>
          <a:xfrm rot="0">
            <a:off x="6753912" y="74268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03</a:t>
            </a:r>
          </a:p>
        </p:txBody>
      </p:sp>
      <p:sp>
        <p:nvSpPr>
          <p:cNvPr name="TextBox 26" id="26"/>
          <p:cNvSpPr txBox="true"/>
          <p:nvPr/>
        </p:nvSpPr>
        <p:spPr>
          <a:xfrm rot="0">
            <a:off x="6753912" y="5219700"/>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04</a:t>
            </a:r>
          </a:p>
        </p:txBody>
      </p:sp>
      <p:sp>
        <p:nvSpPr>
          <p:cNvPr name="TextBox 27" id="27"/>
          <p:cNvSpPr txBox="true"/>
          <p:nvPr/>
        </p:nvSpPr>
        <p:spPr>
          <a:xfrm rot="0">
            <a:off x="12089476" y="3097656"/>
            <a:ext cx="6198524" cy="557578"/>
          </a:xfrm>
          <a:prstGeom prst="rect">
            <a:avLst/>
          </a:prstGeom>
        </p:spPr>
        <p:txBody>
          <a:bodyPr anchor="t" rtlCol="false" tIns="0" lIns="0" bIns="0" rIns="0">
            <a:spAutoFit/>
          </a:bodyPr>
          <a:lstStyle/>
          <a:p>
            <a:pPr algn="r">
              <a:lnSpc>
                <a:spcPts val="3782"/>
              </a:lnSpc>
            </a:pPr>
            <a:r>
              <a:rPr lang="en-US" b="true" sz="5253" spc="-257">
                <a:solidFill>
                  <a:srgbClr val="343434"/>
                </a:solidFill>
                <a:latin typeface="TT Hoves Bold"/>
                <a:ea typeface="TT Hoves Bold"/>
                <a:cs typeface="TT Hoves Bold"/>
                <a:sym typeface="TT Hoves Bold"/>
              </a:rPr>
              <a:t>Model Validation</a:t>
            </a:r>
          </a:p>
        </p:txBody>
      </p:sp>
      <p:sp>
        <p:nvSpPr>
          <p:cNvPr name="TextBox 28" id="28"/>
          <p:cNvSpPr txBox="true"/>
          <p:nvPr/>
        </p:nvSpPr>
        <p:spPr>
          <a:xfrm rot="0">
            <a:off x="12591110" y="-235852"/>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05</a:t>
            </a:r>
          </a:p>
        </p:txBody>
      </p:sp>
      <p:sp>
        <p:nvSpPr>
          <p:cNvPr name="TextBox 29" id="29"/>
          <p:cNvSpPr txBox="true"/>
          <p:nvPr/>
        </p:nvSpPr>
        <p:spPr>
          <a:xfrm rot="0">
            <a:off x="14141979" y="9464838"/>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66469" y="5556794"/>
            <a:ext cx="8217790" cy="4817439"/>
            <a:chOff x="0" y="0"/>
            <a:chExt cx="2164356" cy="1268790"/>
          </a:xfrm>
        </p:grpSpPr>
        <p:sp>
          <p:nvSpPr>
            <p:cNvPr name="Freeform 4" id="4"/>
            <p:cNvSpPr/>
            <p:nvPr/>
          </p:nvSpPr>
          <p:spPr>
            <a:xfrm flipH="false" flipV="false" rot="0">
              <a:off x="0" y="0"/>
              <a:ext cx="2164356" cy="1268790"/>
            </a:xfrm>
            <a:custGeom>
              <a:avLst/>
              <a:gdLst/>
              <a:ahLst/>
              <a:cxnLst/>
              <a:rect r="r" b="b" t="t" l="l"/>
              <a:pathLst>
                <a:path h="1268790" w="2164356">
                  <a:moveTo>
                    <a:pt x="0" y="0"/>
                  </a:moveTo>
                  <a:lnTo>
                    <a:pt x="2164356" y="0"/>
                  </a:lnTo>
                  <a:lnTo>
                    <a:pt x="2164356" y="1268790"/>
                  </a:lnTo>
                  <a:lnTo>
                    <a:pt x="0" y="1268790"/>
                  </a:lnTo>
                  <a:close/>
                </a:path>
              </a:pathLst>
            </a:custGeom>
            <a:solidFill>
              <a:srgbClr val="0003FF"/>
            </a:solidFill>
          </p:spPr>
        </p:sp>
        <p:sp>
          <p:nvSpPr>
            <p:cNvPr name="TextBox 5" id="5"/>
            <p:cNvSpPr txBox="true"/>
            <p:nvPr/>
          </p:nvSpPr>
          <p:spPr>
            <a:xfrm>
              <a:off x="0" y="-57150"/>
              <a:ext cx="2164356" cy="1325940"/>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0646517" y="0"/>
            <a:ext cx="7641483" cy="5453047"/>
          </a:xfrm>
          <a:custGeom>
            <a:avLst/>
            <a:gdLst/>
            <a:ahLst/>
            <a:cxnLst/>
            <a:rect r="r" b="b" t="t" l="l"/>
            <a:pathLst>
              <a:path h="5453047" w="7641483">
                <a:moveTo>
                  <a:pt x="0" y="0"/>
                </a:moveTo>
                <a:lnTo>
                  <a:pt x="7641483" y="0"/>
                </a:lnTo>
                <a:lnTo>
                  <a:pt x="7641483" y="5453047"/>
                </a:lnTo>
                <a:lnTo>
                  <a:pt x="0" y="5453047"/>
                </a:lnTo>
                <a:lnTo>
                  <a:pt x="0" y="0"/>
                </a:lnTo>
                <a:close/>
              </a:path>
            </a:pathLst>
          </a:custGeom>
          <a:blipFill>
            <a:blip r:embed="rId4"/>
            <a:stretch>
              <a:fillRect l="0" t="0" r="-3987" b="0"/>
            </a:stretch>
          </a:blipFill>
        </p:spPr>
      </p:sp>
      <p:sp>
        <p:nvSpPr>
          <p:cNvPr name="TextBox 7" id="7"/>
          <p:cNvSpPr txBox="true"/>
          <p:nvPr/>
        </p:nvSpPr>
        <p:spPr>
          <a:xfrm rot="0">
            <a:off x="150535" y="362299"/>
            <a:ext cx="7395560" cy="1466152"/>
          </a:xfrm>
          <a:prstGeom prst="rect">
            <a:avLst/>
          </a:prstGeom>
        </p:spPr>
        <p:txBody>
          <a:bodyPr anchor="t" rtlCol="false" tIns="0" lIns="0" bIns="0" rIns="0">
            <a:spAutoFit/>
          </a:bodyPr>
          <a:lstStyle/>
          <a:p>
            <a:pPr algn="l">
              <a:lnSpc>
                <a:spcPts val="5668"/>
              </a:lnSpc>
            </a:pPr>
            <a:r>
              <a:rPr lang="en-US" b="true" sz="5844" spc="-274">
                <a:solidFill>
                  <a:srgbClr val="000000"/>
                </a:solidFill>
                <a:latin typeface="TT Hoves Bold"/>
                <a:ea typeface="TT Hoves Bold"/>
                <a:cs typeface="TT Hoves Bold"/>
                <a:sym typeface="TT Hoves Bold"/>
              </a:rPr>
              <a:t>Statistical Interpretation.</a:t>
            </a:r>
          </a:p>
        </p:txBody>
      </p:sp>
      <p:sp>
        <p:nvSpPr>
          <p:cNvPr name="TextBox 8" id="8"/>
          <p:cNvSpPr txBox="true"/>
          <p:nvPr/>
        </p:nvSpPr>
        <p:spPr>
          <a:xfrm rot="0">
            <a:off x="0" y="2152650"/>
            <a:ext cx="7707571" cy="3607499"/>
          </a:xfrm>
          <a:prstGeom prst="rect">
            <a:avLst/>
          </a:prstGeom>
        </p:spPr>
        <p:txBody>
          <a:bodyPr anchor="t" rtlCol="false" tIns="0" lIns="0" bIns="0" rIns="0">
            <a:spAutoFit/>
          </a:bodyPr>
          <a:lstStyle/>
          <a:p>
            <a:pPr algn="l" marL="0" indent="0" lvl="0">
              <a:lnSpc>
                <a:spcPts val="2875"/>
              </a:lnSpc>
              <a:spcBef>
                <a:spcPct val="0"/>
              </a:spcBef>
            </a:pPr>
            <a:r>
              <a:rPr lang="en-US" b="true" sz="2129" spc="127" u="none">
                <a:solidFill>
                  <a:srgbClr val="000000"/>
                </a:solidFill>
                <a:latin typeface="TT Hoves Bold"/>
                <a:ea typeface="TT Hoves Bold"/>
                <a:cs typeface="TT Hoves Bold"/>
                <a:sym typeface="TT Hoves Bold"/>
              </a:rPr>
              <a:t>The Move Away from Small Prey</a:t>
            </a:r>
          </a:p>
          <a:p>
            <a:pPr algn="l" marL="0" indent="0" lvl="0">
              <a:lnSpc>
                <a:spcPts val="2875"/>
              </a:lnSpc>
              <a:spcBef>
                <a:spcPct val="0"/>
              </a:spcBef>
            </a:pPr>
            <a:r>
              <a:rPr lang="en-US" sz="2129" spc="127" u="none">
                <a:solidFill>
                  <a:srgbClr val="000000"/>
                </a:solidFill>
                <a:latin typeface="TT Hoves"/>
                <a:ea typeface="TT Hoves"/>
                <a:cs typeface="TT Hoves"/>
                <a:sym typeface="TT Hoves"/>
              </a:rPr>
              <a:t>By calculating Odds Ratios (OR), we can measure exactly how an alligator's diet shifts as it grows . The most dramatic change is the abandonment of Invertebrates (OR = 0.23). The odds of a large alligator choosing insects or snails over fish are 77% lower than for a small alligator. Put simply, a large alligator is 4.35 times more likely to prefer fish over invertebrates, confirming a definitive shift away from "juvenile" prey as they reach maturity .</a:t>
            </a:r>
          </a:p>
        </p:txBody>
      </p:sp>
      <p:sp>
        <p:nvSpPr>
          <p:cNvPr name="TextBox 9" id="9"/>
          <p:cNvSpPr txBox="true"/>
          <p:nvPr/>
        </p:nvSpPr>
        <p:spPr>
          <a:xfrm rot="0">
            <a:off x="12719168" y="6975212"/>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06</a:t>
            </a:r>
          </a:p>
        </p:txBody>
      </p:sp>
      <p:sp>
        <p:nvSpPr>
          <p:cNvPr name="TextBox 10" id="10"/>
          <p:cNvSpPr txBox="true"/>
          <p:nvPr/>
        </p:nvSpPr>
        <p:spPr>
          <a:xfrm rot="0">
            <a:off x="-5470" y="6083998"/>
            <a:ext cx="7707571" cy="3580162"/>
          </a:xfrm>
          <a:prstGeom prst="rect">
            <a:avLst/>
          </a:prstGeom>
        </p:spPr>
        <p:txBody>
          <a:bodyPr anchor="t" rtlCol="false" tIns="0" lIns="0" bIns="0" rIns="0">
            <a:spAutoFit/>
          </a:bodyPr>
          <a:lstStyle/>
          <a:p>
            <a:pPr algn="l" marL="0" indent="0" lvl="0">
              <a:lnSpc>
                <a:spcPts val="2699"/>
              </a:lnSpc>
              <a:spcBef>
                <a:spcPct val="0"/>
              </a:spcBef>
            </a:pPr>
            <a:r>
              <a:rPr lang="en-US" b="true" sz="1999" spc="119">
                <a:solidFill>
                  <a:srgbClr val="000000"/>
                </a:solidFill>
                <a:latin typeface="TT Hoves Bold"/>
                <a:ea typeface="TT Hoves Bold"/>
                <a:cs typeface="TT Hoves Bold"/>
                <a:sym typeface="TT Hoves Bold"/>
              </a:rPr>
              <a:t>Ex</a:t>
            </a:r>
            <a:r>
              <a:rPr lang="en-US" b="true" sz="1999" spc="119" u="none">
                <a:solidFill>
                  <a:srgbClr val="000000"/>
                </a:solidFill>
                <a:latin typeface="TT Hoves Bold"/>
                <a:ea typeface="TT Hoves Bold"/>
                <a:cs typeface="TT Hoves Bold"/>
                <a:sym typeface="TT Hoves Bold"/>
              </a:rPr>
              <a:t>pansion of Diet</a:t>
            </a:r>
          </a:p>
          <a:p>
            <a:pPr algn="l" marL="0" indent="0" lvl="0">
              <a:lnSpc>
                <a:spcPts val="2875"/>
              </a:lnSpc>
              <a:spcBef>
                <a:spcPct val="0"/>
              </a:spcBef>
            </a:pPr>
            <a:r>
              <a:rPr lang="en-US" sz="2129" spc="127" u="none">
                <a:solidFill>
                  <a:srgbClr val="000000"/>
                </a:solidFill>
                <a:latin typeface="TT Hoves"/>
                <a:ea typeface="TT Hoves"/>
                <a:cs typeface="TT Hoves"/>
                <a:sym typeface="TT Hoves"/>
              </a:rPr>
              <a:t>While alligators move away from smaller prey, their diet simultaneously expands toward larger vertebrates. Large alligators show 88% higher odds of choosing birds (OR = 1.88) and 42% higher odds of choosing reptiles (OR = 1.42) over fish compared to small alligators. These values confirm that biological maturity acts as a catalyst, allowing the alligator to diversify its diet toward more energy-dense prey as its physical hunting capacity increases.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126789" y="-2986203"/>
            <a:ext cx="7624730" cy="7624730"/>
          </a:xfrm>
          <a:custGeom>
            <a:avLst/>
            <a:gdLst/>
            <a:ahLst/>
            <a:cxnLst/>
            <a:rect r="r" b="b" t="t" l="l"/>
            <a:pathLst>
              <a:path h="7624730" w="7624730">
                <a:moveTo>
                  <a:pt x="0" y="0"/>
                </a:moveTo>
                <a:lnTo>
                  <a:pt x="7624731" y="0"/>
                </a:lnTo>
                <a:lnTo>
                  <a:pt x="7624731" y="7624731"/>
                </a:lnTo>
                <a:lnTo>
                  <a:pt x="0" y="7624731"/>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1684" y="296674"/>
            <a:ext cx="7185013" cy="963960"/>
          </a:xfrm>
          <a:prstGeom prst="rect">
            <a:avLst/>
          </a:prstGeom>
        </p:spPr>
        <p:txBody>
          <a:bodyPr anchor="t" rtlCol="false" tIns="0" lIns="0" bIns="0" rIns="0">
            <a:spAutoFit/>
          </a:bodyPr>
          <a:lstStyle/>
          <a:p>
            <a:pPr algn="just">
              <a:lnSpc>
                <a:spcPts val="5588"/>
              </a:lnSpc>
            </a:pPr>
            <a:r>
              <a:rPr lang="en-US" b="true" sz="5761" spc="-276">
                <a:solidFill>
                  <a:srgbClr val="343434"/>
                </a:solidFill>
                <a:latin typeface="TT Hoves Bold"/>
                <a:ea typeface="TT Hoves Bold"/>
                <a:cs typeface="TT Hoves Bold"/>
                <a:sym typeface="TT Hoves Bold"/>
              </a:rPr>
              <a:t>Biological Conclusion</a:t>
            </a:r>
          </a:p>
          <a:p>
            <a:pPr algn="just">
              <a:lnSpc>
                <a:spcPts val="2130"/>
              </a:lnSpc>
            </a:pPr>
          </a:p>
        </p:txBody>
      </p:sp>
      <p:sp>
        <p:nvSpPr>
          <p:cNvPr name="TextBox 4" id="4"/>
          <p:cNvSpPr txBox="true"/>
          <p:nvPr/>
        </p:nvSpPr>
        <p:spPr>
          <a:xfrm rot="0">
            <a:off x="161684" y="1232059"/>
            <a:ext cx="7615182" cy="2883599"/>
          </a:xfrm>
          <a:prstGeom prst="rect">
            <a:avLst/>
          </a:prstGeom>
        </p:spPr>
        <p:txBody>
          <a:bodyPr anchor="t" rtlCol="false" tIns="0" lIns="0" bIns="0" rIns="0">
            <a:spAutoFit/>
          </a:bodyPr>
          <a:lstStyle/>
          <a:p>
            <a:pPr algn="l" marL="0" indent="0" lvl="0">
              <a:lnSpc>
                <a:spcPts val="2875"/>
              </a:lnSpc>
              <a:spcBef>
                <a:spcPct val="0"/>
              </a:spcBef>
            </a:pPr>
            <a:r>
              <a:rPr lang="en-US" sz="2129" spc="127">
                <a:solidFill>
                  <a:srgbClr val="343434"/>
                </a:solidFill>
                <a:latin typeface="TT Hoves"/>
                <a:ea typeface="TT Hoves"/>
                <a:cs typeface="TT Hoves"/>
                <a:sym typeface="TT Hoves"/>
              </a:rPr>
              <a:t>Th</a:t>
            </a:r>
            <a:r>
              <a:rPr lang="en-US" sz="2129" spc="127" u="none">
                <a:solidFill>
                  <a:srgbClr val="343434"/>
                </a:solidFill>
                <a:latin typeface="TT Hoves"/>
                <a:ea typeface="TT Hoves"/>
                <a:cs typeface="TT Hoves"/>
                <a:sym typeface="TT Hoves"/>
              </a:rPr>
              <a:t>is analysis confirms that alligator dietary habits are not random but are strictly governed by geographical habitat and biological development. Using a multinomial framework, we successfully quantified the shift which is transition from a high-probability invertebrate diet in juveniles to a vertebrate-heavy diet in adults . This transition is statistically significant (p &lt; 0.001) and represents a critical survival strategy for the species.</a:t>
            </a:r>
          </a:p>
        </p:txBody>
      </p:sp>
      <p:grpSp>
        <p:nvGrpSpPr>
          <p:cNvPr name="Group 5" id="5"/>
          <p:cNvGrpSpPr/>
          <p:nvPr/>
        </p:nvGrpSpPr>
        <p:grpSpPr>
          <a:xfrm rot="0">
            <a:off x="11109612" y="-666477"/>
            <a:ext cx="7178388" cy="11878896"/>
            <a:chOff x="0" y="0"/>
            <a:chExt cx="1890604" cy="3128598"/>
          </a:xfrm>
        </p:grpSpPr>
        <p:sp>
          <p:nvSpPr>
            <p:cNvPr name="Freeform 6" id="6"/>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7" id="7"/>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TextBox 8" id="8"/>
          <p:cNvSpPr txBox="true"/>
          <p:nvPr/>
        </p:nvSpPr>
        <p:spPr>
          <a:xfrm rot="0">
            <a:off x="10080136" y="7130873"/>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07</a:t>
            </a:r>
          </a:p>
        </p:txBody>
      </p:sp>
      <p:sp>
        <p:nvSpPr>
          <p:cNvPr name="TextBox 9" id="9"/>
          <p:cNvSpPr txBox="true"/>
          <p:nvPr/>
        </p:nvSpPr>
        <p:spPr>
          <a:xfrm rot="0">
            <a:off x="161684" y="4743298"/>
            <a:ext cx="7185013" cy="1454125"/>
          </a:xfrm>
          <a:prstGeom prst="rect">
            <a:avLst/>
          </a:prstGeom>
        </p:spPr>
        <p:txBody>
          <a:bodyPr anchor="t" rtlCol="false" tIns="0" lIns="0" bIns="0" rIns="0">
            <a:spAutoFit/>
          </a:bodyPr>
          <a:lstStyle/>
          <a:p>
            <a:pPr algn="just">
              <a:lnSpc>
                <a:spcPts val="5587"/>
              </a:lnSpc>
            </a:pPr>
            <a:r>
              <a:rPr lang="en-US" b="true" sz="5759" spc="-276">
                <a:solidFill>
                  <a:srgbClr val="343434"/>
                </a:solidFill>
                <a:latin typeface="TT Hoves Bold"/>
                <a:ea typeface="TT Hoves Bold"/>
                <a:cs typeface="TT Hoves Bold"/>
                <a:sym typeface="TT Hoves Bold"/>
              </a:rPr>
              <a:t>Model Performance &amp; Final Verdict</a:t>
            </a:r>
          </a:p>
        </p:txBody>
      </p:sp>
      <p:sp>
        <p:nvSpPr>
          <p:cNvPr name="TextBox 10" id="10"/>
          <p:cNvSpPr txBox="true"/>
          <p:nvPr/>
        </p:nvSpPr>
        <p:spPr>
          <a:xfrm rot="0">
            <a:off x="161684" y="6423110"/>
            <a:ext cx="7615182" cy="3551587"/>
          </a:xfrm>
          <a:prstGeom prst="rect">
            <a:avLst/>
          </a:prstGeom>
        </p:spPr>
        <p:txBody>
          <a:bodyPr anchor="t" rtlCol="false" tIns="0" lIns="0" bIns="0" rIns="0">
            <a:spAutoFit/>
          </a:bodyPr>
          <a:lstStyle/>
          <a:p>
            <a:pPr algn="l" marL="0" indent="0" lvl="0">
              <a:lnSpc>
                <a:spcPts val="2875"/>
              </a:lnSpc>
              <a:spcBef>
                <a:spcPct val="0"/>
              </a:spcBef>
            </a:pPr>
            <a:r>
              <a:rPr lang="en-US" sz="2129" spc="127">
                <a:solidFill>
                  <a:srgbClr val="343434"/>
                </a:solidFill>
                <a:latin typeface="TT Hoves"/>
                <a:ea typeface="TT Hoves"/>
                <a:cs typeface="TT Hoves"/>
                <a:sym typeface="TT Hoves"/>
              </a:rPr>
              <a:t>Wh</a:t>
            </a:r>
            <a:r>
              <a:rPr lang="en-US" sz="2129" spc="127" u="none">
                <a:solidFill>
                  <a:srgbClr val="343434"/>
                </a:solidFill>
                <a:latin typeface="TT Hoves"/>
                <a:ea typeface="TT Hoves"/>
                <a:cs typeface="TT Hoves"/>
                <a:sym typeface="TT Hoves"/>
              </a:rPr>
              <a:t>ile formal tests suggested a "lack of fit" due to sparse data in rare categories, our validation metrics prove the model's practical utility. With a 48.4% classification accuracy and centered residuals, the additive model provides a parsimonious and accurate map of predatory behavior . We conclude that Size and Location are the dual engines driving the predatory lifecycle of the Florida alligator.</a:t>
            </a:r>
          </a:p>
          <a:p>
            <a:pPr algn="l" marL="0" indent="0" lvl="0">
              <a:lnSpc>
                <a:spcPts val="2699"/>
              </a:lnSpc>
              <a:spcBef>
                <a:spcPct val="0"/>
              </a:spcBef>
            </a:pPr>
          </a:p>
          <a:p>
            <a:pPr algn="l" marL="0" indent="0" lvl="0">
              <a:lnSpc>
                <a:spcPts val="26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6660790" y="2862623"/>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sp>
        <p:nvSpPr>
          <p:cNvPr name="TextBox 7" id="7"/>
          <p:cNvSpPr txBox="true"/>
          <p:nvPr/>
        </p:nvSpPr>
        <p:spPr>
          <a:xfrm rot="0">
            <a:off x="302472" y="6388404"/>
            <a:ext cx="2871936" cy="762000"/>
          </a:xfrm>
          <a:prstGeom prst="rect">
            <a:avLst/>
          </a:prstGeom>
        </p:spPr>
        <p:txBody>
          <a:bodyPr anchor="t" rtlCol="false" tIns="0" lIns="0" bIns="0" rIns="0">
            <a:spAutoFit/>
          </a:bodyPr>
          <a:lstStyle/>
          <a:p>
            <a:pPr algn="ctr">
              <a:lnSpc>
                <a:spcPts val="6299"/>
              </a:lnSpc>
              <a:spcBef>
                <a:spcPct val="0"/>
              </a:spcBef>
            </a:pPr>
            <a:r>
              <a:rPr lang="en-US" b="true" sz="4500" spc="-220">
                <a:solidFill>
                  <a:srgbClr val="343434"/>
                </a:solidFill>
                <a:latin typeface="TT Hoves Bold"/>
                <a:ea typeface="TT Hoves Bold"/>
                <a:cs typeface="TT Hoves Bold"/>
                <a:sym typeface="TT Hoves Bold"/>
              </a:rPr>
              <a:t>References</a:t>
            </a:r>
          </a:p>
        </p:txBody>
      </p:sp>
      <p:sp>
        <p:nvSpPr>
          <p:cNvPr name="TextBox 8" id="8"/>
          <p:cNvSpPr txBox="true"/>
          <p:nvPr/>
        </p:nvSpPr>
        <p:spPr>
          <a:xfrm rot="0">
            <a:off x="390578" y="7259926"/>
            <a:ext cx="10423922" cy="1516761"/>
          </a:xfrm>
          <a:prstGeom prst="rect">
            <a:avLst/>
          </a:prstGeom>
        </p:spPr>
        <p:txBody>
          <a:bodyPr anchor="t" rtlCol="false" tIns="0" lIns="0" bIns="0" rIns="0">
            <a:spAutoFit/>
          </a:bodyPr>
          <a:lstStyle/>
          <a:p>
            <a:pPr algn="just" marL="466344" indent="-233172" lvl="1">
              <a:lnSpc>
                <a:spcPts val="3024"/>
              </a:lnSpc>
              <a:spcBef>
                <a:spcPct val="0"/>
              </a:spcBef>
              <a:buFont typeface="Arial"/>
              <a:buChar char="•"/>
            </a:pPr>
            <a:r>
              <a:rPr lang="en-US" sz="2160" spc="-105">
                <a:solidFill>
                  <a:srgbClr val="343434"/>
                </a:solidFill>
                <a:latin typeface="TT Hoves"/>
                <a:ea typeface="TT Hoves"/>
                <a:cs typeface="TT Hoves"/>
                <a:sym typeface="TT Hoves"/>
              </a:rPr>
              <a:t>Agresti, A. (2019). An Intr</a:t>
            </a:r>
            <a:r>
              <a:rPr lang="en-US" sz="2160" spc="-105">
                <a:solidFill>
                  <a:srgbClr val="343434"/>
                </a:solidFill>
                <a:latin typeface="TT Hoves"/>
                <a:ea typeface="TT Hoves"/>
                <a:cs typeface="TT Hoves"/>
                <a:sym typeface="TT Hoves"/>
              </a:rPr>
              <a:t>oduction to Categorical Data Analysis (3rd ed.). Wiley.</a:t>
            </a:r>
          </a:p>
          <a:p>
            <a:pPr algn="just" marL="466344" indent="-233172" lvl="1">
              <a:lnSpc>
                <a:spcPts val="3024"/>
              </a:lnSpc>
              <a:spcBef>
                <a:spcPct val="0"/>
              </a:spcBef>
              <a:buFont typeface="Arial"/>
              <a:buChar char="•"/>
            </a:pPr>
            <a:r>
              <a:rPr lang="en-US" sz="2160" spc="-105">
                <a:solidFill>
                  <a:srgbClr val="343434"/>
                </a:solidFill>
                <a:latin typeface="TT Hoves"/>
                <a:ea typeface="TT Hoves"/>
                <a:cs typeface="TT Hoves"/>
                <a:sym typeface="TT Hoves"/>
              </a:rPr>
              <a:t>Florida Game and Fresh Water Fish Commission. Alligator dietary dataset (Table 8.1).</a:t>
            </a:r>
          </a:p>
          <a:p>
            <a:pPr algn="just" marL="466344" indent="-233172" lvl="1">
              <a:lnSpc>
                <a:spcPts val="3024"/>
              </a:lnSpc>
              <a:spcBef>
                <a:spcPct val="0"/>
              </a:spcBef>
              <a:buFont typeface="Arial"/>
              <a:buChar char="•"/>
            </a:pPr>
            <a:r>
              <a:rPr lang="en-US" sz="2160" spc="-105">
                <a:solidFill>
                  <a:srgbClr val="343434"/>
                </a:solidFill>
                <a:latin typeface="TT Hoves"/>
                <a:ea typeface="TT Hoves"/>
                <a:cs typeface="TT Hoves"/>
                <a:sym typeface="TT Hoves"/>
              </a:rPr>
              <a:t>Friendly, M. (2024). vcdExtra: Visualizing Categorical Data Extended. R package version 0.8-5.</a:t>
            </a:r>
          </a:p>
          <a:p>
            <a:pPr algn="just">
              <a:lnSpc>
                <a:spcPts val="3024"/>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DAHG-d7ry7c</dc:identifier>
  <dcterms:modified xsi:type="dcterms:W3CDTF">2011-08-01T06:04:30Z</dcterms:modified>
  <cp:revision>1</cp:revision>
  <dc:title>Non Text Magic Studio Magic Design for Presentations L&amp;P</dc:title>
</cp:coreProperties>
</file>